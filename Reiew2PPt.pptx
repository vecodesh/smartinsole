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3"/>
  </p:notesMasterIdLst>
  <p:sldIdLst>
    <p:sldId id="256" r:id="rId2"/>
    <p:sldId id="257" r:id="rId3"/>
    <p:sldId id="268" r:id="rId4"/>
    <p:sldId id="258" r:id="rId5"/>
    <p:sldId id="259" r:id="rId6"/>
    <p:sldId id="260" r:id="rId7"/>
    <p:sldId id="266" r:id="rId8"/>
    <p:sldId id="261" r:id="rId9"/>
    <p:sldId id="263" r:id="rId10"/>
    <p:sldId id="264" r:id="rId11"/>
    <p:sldId id="265" r:id="rId1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5" d="100"/>
          <a:sy n="145" d="100"/>
        </p:scale>
        <p:origin x="100" y="48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46449942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908187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9dc2cd92ce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9dc2cd92ce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18329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9dc2cd92ce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9dc2cd92ce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007946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9dc2cd92ce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9dc2cd92ce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5050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9dc2cd92ce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9dc2cd92ce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527461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9dc2cd92ce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9dc2cd92ce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8273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9dc2cd92ce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9dc2cd92ce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49016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9dc2cd92ce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9dc2cd92ce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75597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9dc2cd92ce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9dc2cd92ce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371739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9dc2cd92ce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9dc2cd92ce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220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9dc2cd92ce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9dc2cd92ce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70026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558310" y="1212765"/>
            <a:ext cx="8221235" cy="1507881"/>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2800" dirty="0"/>
              <a:t>Activity-Aware Smart Insole for Early Diabetic Foot Ulcer Risk Prediction using Machine Learning and Explainable AI</a:t>
            </a:r>
            <a:endParaRPr dirty="0"/>
          </a:p>
        </p:txBody>
      </p:sp>
      <p:pic>
        <p:nvPicPr>
          <p:cNvPr id="56" name="Google Shape;56;p13"/>
          <p:cNvPicPr preferRelativeResize="0"/>
          <p:nvPr/>
        </p:nvPicPr>
        <p:blipFill>
          <a:blip r:embed="rId3">
            <a:alphaModFix/>
          </a:blip>
          <a:stretch>
            <a:fillRect/>
          </a:stretch>
        </p:blipFill>
        <p:spPr>
          <a:xfrm>
            <a:off x="511008" y="96716"/>
            <a:ext cx="7810912" cy="744575"/>
          </a:xfrm>
          <a:prstGeom prst="rect">
            <a:avLst/>
          </a:prstGeom>
          <a:noFill/>
          <a:ln>
            <a:noFill/>
          </a:ln>
        </p:spPr>
      </p:pic>
      <p:sp>
        <p:nvSpPr>
          <p:cNvPr id="4" name="Subtitle 2">
            <a:extLst>
              <a:ext uri="{FF2B5EF4-FFF2-40B4-BE49-F238E27FC236}">
                <a16:creationId xmlns:a16="http://schemas.microsoft.com/office/drawing/2014/main" id="{46FDE4AF-42A0-57B7-BD45-49991B27C113}"/>
              </a:ext>
            </a:extLst>
          </p:cNvPr>
          <p:cNvSpPr txBox="1">
            <a:spLocks/>
          </p:cNvSpPr>
          <p:nvPr/>
        </p:nvSpPr>
        <p:spPr>
          <a:xfrm>
            <a:off x="4857750" y="3763108"/>
            <a:ext cx="4400079" cy="1213338"/>
          </a:xfrm>
          <a:prstGeom prst="rect">
            <a:avLst/>
          </a:prstGeom>
        </p:spPr>
        <p:txBody>
          <a:bodyPr vert="horz" lIns="91440" tIns="45720" rIns="91440" bIns="45720" rtlCol="0">
            <a:noAutofit/>
          </a:bodyPr>
          <a:lstStyle>
            <a:defPPr>
              <a:defRPr lang="en-US"/>
            </a:defPPr>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600"/>
              </a:spcBef>
            </a:pPr>
            <a:r>
              <a:rPr lang="en-IN" sz="2000" b="1" dirty="0">
                <a:solidFill>
                  <a:srgbClr val="002060"/>
                </a:solidFill>
                <a:latin typeface="Times New Roman" panose="02020603050405020304" pitchFamily="18" charset="0"/>
                <a:cs typeface="Times New Roman" panose="02020603050405020304" pitchFamily="18" charset="0"/>
              </a:rPr>
              <a:t>Batch Members:</a:t>
            </a:r>
          </a:p>
          <a:p>
            <a:pPr marL="457200" indent="-457200" algn="l">
              <a:lnSpc>
                <a:spcPct val="100000"/>
              </a:lnSpc>
              <a:spcBef>
                <a:spcPts val="200"/>
              </a:spcBef>
              <a:buAutoNum type="arabicPeriod"/>
            </a:pPr>
            <a:r>
              <a:rPr lang="en-IN" sz="1800" b="1" dirty="0">
                <a:solidFill>
                  <a:srgbClr val="002060"/>
                </a:solidFill>
                <a:latin typeface="Times New Roman" panose="02020603050405020304" pitchFamily="18" charset="0"/>
                <a:cs typeface="Times New Roman" panose="02020603050405020304" pitchFamily="18" charset="0"/>
              </a:rPr>
              <a:t>Vedesh N  : 727723eucs268</a:t>
            </a:r>
          </a:p>
          <a:p>
            <a:pPr marL="457200" indent="-457200" algn="l">
              <a:lnSpc>
                <a:spcPct val="100000"/>
              </a:lnSpc>
              <a:spcBef>
                <a:spcPts val="200"/>
              </a:spcBef>
              <a:buFont typeface="Arial" panose="020B0604020202020204" pitchFamily="34" charset="0"/>
              <a:buAutoNum type="arabicPeriod"/>
            </a:pPr>
            <a:r>
              <a:rPr lang="en-IN" sz="1800" b="1" dirty="0">
                <a:solidFill>
                  <a:srgbClr val="002060"/>
                </a:solidFill>
                <a:latin typeface="Times New Roman" panose="02020603050405020304" pitchFamily="18" charset="0"/>
                <a:cs typeface="Times New Roman" panose="02020603050405020304" pitchFamily="18" charset="0"/>
              </a:rPr>
              <a:t>Sri Nikitha </a:t>
            </a:r>
            <a:r>
              <a:rPr lang="en-IN" sz="1800" b="1" dirty="0" err="1">
                <a:solidFill>
                  <a:srgbClr val="002060"/>
                </a:solidFill>
                <a:latin typeface="Times New Roman" panose="02020603050405020304" pitchFamily="18" charset="0"/>
                <a:cs typeface="Times New Roman" panose="02020603050405020304" pitchFamily="18" charset="0"/>
              </a:rPr>
              <a:t>Savula</a:t>
            </a:r>
            <a:r>
              <a:rPr lang="en-IN" sz="1800" b="1" dirty="0">
                <a:solidFill>
                  <a:srgbClr val="002060"/>
                </a:solidFill>
                <a:latin typeface="Times New Roman" panose="02020603050405020304" pitchFamily="18" charset="0"/>
                <a:cs typeface="Times New Roman" panose="02020603050405020304" pitchFamily="18" charset="0"/>
              </a:rPr>
              <a:t> S : 727723eucs240</a:t>
            </a:r>
          </a:p>
          <a:p>
            <a:pPr marL="457200" indent="-457200" algn="l">
              <a:lnSpc>
                <a:spcPct val="100000"/>
              </a:lnSpc>
              <a:spcBef>
                <a:spcPts val="200"/>
              </a:spcBef>
              <a:buFont typeface="Arial" panose="020B0604020202020204" pitchFamily="34" charset="0"/>
              <a:buAutoNum type="arabicPeriod"/>
            </a:pPr>
            <a:r>
              <a:rPr lang="en-IN" sz="1800" b="1" dirty="0">
                <a:solidFill>
                  <a:srgbClr val="002060"/>
                </a:solidFill>
                <a:latin typeface="Times New Roman" panose="02020603050405020304" pitchFamily="18" charset="0"/>
                <a:cs typeface="Times New Roman" panose="02020603050405020304" pitchFamily="18" charset="0"/>
              </a:rPr>
              <a:t>Sri Vaishnavi R : 727723eucs241</a:t>
            </a:r>
          </a:p>
        </p:txBody>
      </p:sp>
      <p:sp>
        <p:nvSpPr>
          <p:cNvPr id="5" name="Subtitle 2">
            <a:extLst>
              <a:ext uri="{FF2B5EF4-FFF2-40B4-BE49-F238E27FC236}">
                <a16:creationId xmlns:a16="http://schemas.microsoft.com/office/drawing/2014/main" id="{51C75339-A05A-F46A-823C-5125842221D1}"/>
              </a:ext>
            </a:extLst>
          </p:cNvPr>
          <p:cNvSpPr txBox="1">
            <a:spLocks/>
          </p:cNvSpPr>
          <p:nvPr/>
        </p:nvSpPr>
        <p:spPr>
          <a:xfrm>
            <a:off x="-1" y="3924434"/>
            <a:ext cx="3962399" cy="445343"/>
          </a:xfrm>
          <a:prstGeom prst="rect">
            <a:avLst/>
          </a:prstGeom>
        </p:spPr>
        <p:txBody>
          <a:bodyPr vert="horz" lIns="91440" tIns="45720" rIns="91440" bIns="45720" rtlCol="0">
            <a:noAutofit/>
          </a:bodyPr>
          <a:lstStyle>
            <a:defPPr>
              <a:defRPr lang="en-US"/>
            </a:defPPr>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600"/>
              </a:spcBef>
            </a:pPr>
            <a:r>
              <a:rPr lang="en-IN" sz="2000" b="1" dirty="0">
                <a:solidFill>
                  <a:srgbClr val="002060"/>
                </a:solidFill>
                <a:latin typeface="Times New Roman" panose="02020603050405020304" pitchFamily="18" charset="0"/>
                <a:cs typeface="Times New Roman" panose="02020603050405020304" pitchFamily="18" charset="0"/>
              </a:rPr>
              <a:t>Batch No: 5</a:t>
            </a:r>
          </a:p>
        </p:txBody>
      </p:sp>
      <p:sp>
        <p:nvSpPr>
          <p:cNvPr id="6" name="Subtitle 2">
            <a:extLst>
              <a:ext uri="{FF2B5EF4-FFF2-40B4-BE49-F238E27FC236}">
                <a16:creationId xmlns:a16="http://schemas.microsoft.com/office/drawing/2014/main" id="{A9AEC5C0-5F1E-B992-2EDD-BBEB63F513BE}"/>
              </a:ext>
            </a:extLst>
          </p:cNvPr>
          <p:cNvSpPr txBox="1">
            <a:spLocks/>
          </p:cNvSpPr>
          <p:nvPr/>
        </p:nvSpPr>
        <p:spPr>
          <a:xfrm>
            <a:off x="-1" y="4238567"/>
            <a:ext cx="5309758" cy="737879"/>
          </a:xfrm>
          <a:prstGeom prst="rect">
            <a:avLst/>
          </a:prstGeom>
        </p:spPr>
        <p:txBody>
          <a:bodyPr vert="horz" lIns="91440" tIns="45720" rIns="91440" bIns="45720" rtlCol="0">
            <a:noAutofit/>
          </a:bodyPr>
          <a:lstStyle>
            <a:defPPr>
              <a:defRPr lang="en-US"/>
            </a:defPPr>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600"/>
              </a:spcBef>
            </a:pPr>
            <a:r>
              <a:rPr lang="en-IN" sz="2000" b="1" dirty="0">
                <a:solidFill>
                  <a:srgbClr val="002060"/>
                </a:solidFill>
                <a:latin typeface="Times New Roman" panose="02020603050405020304" pitchFamily="18" charset="0"/>
                <a:cs typeface="Times New Roman" panose="02020603050405020304" pitchFamily="18" charset="0"/>
              </a:rPr>
              <a:t>Supervisor: </a:t>
            </a:r>
            <a:r>
              <a:rPr lang="en-IN" sz="1800" b="1" dirty="0">
                <a:solidFill>
                  <a:srgbClr val="002060"/>
                </a:solidFill>
                <a:latin typeface="Times New Roman" panose="02020603050405020304" pitchFamily="18" charset="0"/>
                <a:cs typeface="Times New Roman" panose="02020603050405020304" pitchFamily="18" charset="0"/>
              </a:rPr>
              <a:t>Ms </a:t>
            </a:r>
            <a:r>
              <a:rPr lang="en-IN" sz="1800" b="1" dirty="0" err="1">
                <a:solidFill>
                  <a:srgbClr val="002060"/>
                </a:solidFill>
                <a:latin typeface="Times New Roman" panose="02020603050405020304" pitchFamily="18" charset="0"/>
                <a:cs typeface="Times New Roman" panose="02020603050405020304" pitchFamily="18" charset="0"/>
              </a:rPr>
              <a:t>S.Vidhiya</a:t>
            </a:r>
            <a:r>
              <a:rPr lang="en-IN" sz="1800" b="1" dirty="0">
                <a:solidFill>
                  <a:srgbClr val="002060"/>
                </a:solidFill>
                <a:latin typeface="Times New Roman" panose="02020603050405020304" pitchFamily="18" charset="0"/>
                <a:cs typeface="Times New Roman" panose="02020603050405020304" pitchFamily="18" charset="0"/>
              </a:rPr>
              <a:t> </a:t>
            </a:r>
          </a:p>
        </p:txBody>
      </p:sp>
      <p:sp>
        <p:nvSpPr>
          <p:cNvPr id="7" name="Subtitle 2">
            <a:extLst>
              <a:ext uri="{FF2B5EF4-FFF2-40B4-BE49-F238E27FC236}">
                <a16:creationId xmlns:a16="http://schemas.microsoft.com/office/drawing/2014/main" id="{E13333B8-C2A4-177F-A65C-FE79F72E3691}"/>
              </a:ext>
            </a:extLst>
          </p:cNvPr>
          <p:cNvSpPr txBox="1">
            <a:spLocks/>
          </p:cNvSpPr>
          <p:nvPr/>
        </p:nvSpPr>
        <p:spPr>
          <a:xfrm>
            <a:off x="0" y="4597956"/>
            <a:ext cx="3962399" cy="445343"/>
          </a:xfrm>
          <a:prstGeom prst="rect">
            <a:avLst/>
          </a:prstGeom>
        </p:spPr>
        <p:txBody>
          <a:bodyPr vert="horz" lIns="91440" tIns="45720" rIns="91440" bIns="45720" rtlCol="0">
            <a:noAutofit/>
          </a:bodyPr>
          <a:lstStyle>
            <a:defPPr>
              <a:defRPr lang="en-US"/>
            </a:defPPr>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600"/>
              </a:spcBef>
            </a:pPr>
            <a:r>
              <a:rPr lang="en-IN" sz="2000" b="1" dirty="0">
                <a:solidFill>
                  <a:srgbClr val="002060"/>
                </a:solidFill>
                <a:latin typeface="Times New Roman" panose="02020603050405020304" pitchFamily="18" charset="0"/>
                <a:cs typeface="Times New Roman" panose="02020603050405020304" pitchFamily="18" charset="0"/>
              </a:rPr>
              <a:t>Date: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p:nvPr/>
        </p:nvSpPr>
        <p:spPr>
          <a:xfrm>
            <a:off x="2076625" y="342903"/>
            <a:ext cx="4219800" cy="73863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3600" dirty="0">
                <a:solidFill>
                  <a:schemeClr val="dk1"/>
                </a:solidFill>
              </a:rPr>
              <a:t>ABSTRACT</a:t>
            </a:r>
            <a:endParaRPr sz="3600" dirty="0"/>
          </a:p>
        </p:txBody>
      </p:sp>
      <p:sp>
        <p:nvSpPr>
          <p:cNvPr id="62" name="TextBox 61"/>
          <p:cNvSpPr txBox="1"/>
          <p:nvPr/>
        </p:nvSpPr>
        <p:spPr>
          <a:xfrm>
            <a:off x="334058" y="1163259"/>
            <a:ext cx="8344000" cy="3800000"/>
          </a:xfrm>
          <a:prstGeom prst="rect">
            <a:avLst/>
          </a:prstGeom>
          <a:noFill/>
        </p:spPr>
        <p:txBody>
          <a:bodyPr wrap="square" lIns="0" tIns="0" rIns="0" bIns="0" anchor="t">
            <a:spAutoFit/>
          </a:bodyPr>
          <a:lstStyle/>
          <a:p>
            <a:pPr algn="just">
              <a:lnSpc>
                <a:spcPct val="115000"/>
              </a:lnSpc>
            </a:pPr>
            <a:r>
              <a:rPr sz="1600" i="0" dirty="0">
                <a:solidFill>
                  <a:srgbClr val="000000"/>
                </a:solidFill>
                <a:latin typeface="Arial"/>
              </a:rPr>
              <a:t>Diabetic Foot Ulcer (DFU) is a serious complication of diabetes caused by peripheral neuropathy, poor circulation, and repeated foot pressure. Because neuropathy reduces pain sensation, early warning signs often go unnoticed until damage is severe. This project proposes an Activity-Aware Smart Insole that continuously monitors plantar pressure (FSR), foot temperature (DS18B20), and activity (MPU6050 IMU) via an ESP32 microcontroller. Sensor data is analyzed using Machine Learning to predict ulcer risk, and every prediction is explained using Explainable AI (SHAP/LIME) through a patient- and doctor-facing dashboard. Unlike existing systems, which rely on simple threshold alerts or unexplained ML predictions, the proposed system combines multimodal sensing, machine learning, and explainability in one wearable platform to support early, informed intervention.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p:nvPr/>
        </p:nvSpPr>
        <p:spPr>
          <a:xfrm>
            <a:off x="1940343" y="465993"/>
            <a:ext cx="5398595" cy="73863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3600" dirty="0">
                <a:solidFill>
                  <a:schemeClr val="dk1"/>
                </a:solidFill>
              </a:rPr>
              <a:t>LITERATURE SURVEY</a:t>
            </a:r>
            <a:endParaRPr sz="3600" dirty="0"/>
          </a:p>
        </p:txBody>
      </p:sp>
      <p:graphicFrame>
        <p:nvGraphicFramePr>
          <p:cNvPr id="2" name="Table 1"/>
          <p:cNvGraphicFramePr>
            <a:graphicFrameLocks noGrp="1"/>
          </p:cNvGraphicFramePr>
          <p:nvPr>
            <p:extLst>
              <p:ext uri="{D42A27DB-BD31-4B8C-83A1-F6EECF244321}">
                <p14:modId xmlns:p14="http://schemas.microsoft.com/office/powerpoint/2010/main" val="1331893873"/>
              </p:ext>
            </p:extLst>
          </p:nvPr>
        </p:nvGraphicFramePr>
        <p:xfrm>
          <a:off x="300000" y="1780000"/>
          <a:ext cx="6800000" cy="2818160"/>
        </p:xfrm>
        <a:graphic>
          <a:graphicData uri="http://schemas.openxmlformats.org/drawingml/2006/table">
            <a:tbl>
              <a:tblPr firstRow="1" bandRow="1">
                <a:tableStyleId>{5C22544A-7EE6-4342-B048-85BDC9FD1C3A}</a:tableStyleId>
              </a:tblPr>
              <a:tblGrid>
                <a:gridCol w="1900000">
                  <a:extLst>
                    <a:ext uri="{9D8B030D-6E8A-4147-A177-3AD203B41FA5}">
                      <a16:colId xmlns:a16="http://schemas.microsoft.com/office/drawing/2014/main" val="20000"/>
                    </a:ext>
                  </a:extLst>
                </a:gridCol>
                <a:gridCol w="1300000">
                  <a:extLst>
                    <a:ext uri="{9D8B030D-6E8A-4147-A177-3AD203B41FA5}">
                      <a16:colId xmlns:a16="http://schemas.microsoft.com/office/drawing/2014/main" val="20001"/>
                    </a:ext>
                  </a:extLst>
                </a:gridCol>
                <a:gridCol w="1900000">
                  <a:extLst>
                    <a:ext uri="{9D8B030D-6E8A-4147-A177-3AD203B41FA5}">
                      <a16:colId xmlns:a16="http://schemas.microsoft.com/office/drawing/2014/main" val="20002"/>
                    </a:ext>
                  </a:extLst>
                </a:gridCol>
                <a:gridCol w="1700000">
                  <a:extLst>
                    <a:ext uri="{9D8B030D-6E8A-4147-A177-3AD203B41FA5}">
                      <a16:colId xmlns:a16="http://schemas.microsoft.com/office/drawing/2014/main" val="20003"/>
                    </a:ext>
                  </a:extLst>
                </a:gridCol>
              </a:tblGrid>
              <a:tr h="460000">
                <a:tc>
                  <a:txBody>
                    <a:bodyPr/>
                    <a:lstStyle/>
                    <a:p>
                      <a:r>
                        <a:rPr lang="en-US" dirty="0"/>
                        <a:t>Paper</a:t>
                      </a:r>
                      <a:r>
                        <a:rPr lang="en-US" baseline="0" dirty="0"/>
                        <a:t> Title </a:t>
                      </a:r>
                      <a:endParaRPr lang="en-US" dirty="0"/>
                    </a:p>
                  </a:txBody>
                  <a:tcPr/>
                </a:tc>
                <a:tc>
                  <a:txBody>
                    <a:bodyPr/>
                    <a:lstStyle/>
                    <a:p>
                      <a:r>
                        <a:rPr lang="en-US" dirty="0"/>
                        <a:t>Author Details </a:t>
                      </a:r>
                    </a:p>
                  </a:txBody>
                  <a:tcPr/>
                </a:tc>
                <a:tc>
                  <a:txBody>
                    <a:bodyPr/>
                    <a:lstStyle/>
                    <a:p>
                      <a:r>
                        <a:rPr lang="en-US" dirty="0"/>
                        <a:t>Methodology</a:t>
                      </a:r>
                    </a:p>
                  </a:txBody>
                  <a:tcPr/>
                </a:tc>
                <a:tc>
                  <a:txBody>
                    <a:bodyPr/>
                    <a:lstStyle/>
                    <a:p>
                      <a:r>
                        <a:rPr lang="en-US" dirty="0"/>
                        <a:t>Merits </a:t>
                      </a:r>
                    </a:p>
                  </a:txBody>
                  <a:tcPr/>
                </a:tc>
                <a:extLst>
                  <a:ext uri="{0D108BD9-81ED-4DB2-BD59-A6C34878D82A}">
                    <a16:rowId xmlns:a16="http://schemas.microsoft.com/office/drawing/2014/main" val="10000"/>
                  </a:ext>
                </a:extLst>
              </a:tr>
              <a:tr h="460000">
                <a:tc>
                  <a:txBody>
                    <a:bodyPr/>
                    <a:lstStyle/>
                    <a:p>
                      <a:pPr algn="l"/>
                      <a:r>
                        <a:rPr sz="900" b="0">
                          <a:solidFill>
                            <a:srgbClr val="000000"/>
                          </a:solidFill>
                          <a:latin typeface="Arial"/>
                        </a:rPr>
                        <a:t>Low-Cost Wireless</a:t>
                      </a:r>
                      <a:endParaRPr lang="en-US" dirty="0"/>
                    </a:p>
                    <a:p>
                      <a:pPr algn="l"/>
                      <a:r>
                        <a:rPr sz="900" b="0">
                          <a:solidFill>
                            <a:srgbClr val="000000"/>
                          </a:solidFill>
                          <a:latin typeface="Arial"/>
                        </a:rPr>
                        <a:t>Footwear System</a:t>
                      </a:r>
                    </a:p>
                  </a:txBody>
                  <a:tcPr marL="45000" marR="45000" marT="20000" marB="20000" anchor="ctr"/>
                </a:tc>
                <a:tc>
                  <a:txBody>
                    <a:bodyPr/>
                    <a:lstStyle/>
                    <a:p>
                      <a:pPr algn="l"/>
                      <a:r>
                        <a:rPr sz="900" b="0">
                          <a:solidFill>
                            <a:srgbClr val="000000"/>
                          </a:solidFill>
                          <a:latin typeface="Arial"/>
                        </a:rPr>
                        <a:t>D. Wang et al.,</a:t>
                      </a:r>
                      <a:endParaRPr lang="en-US"/>
                    </a:p>
                    <a:p>
                      <a:pPr algn="l"/>
                      <a:r>
                        <a:rPr sz="900" b="0">
                          <a:solidFill>
                            <a:srgbClr val="000000"/>
                          </a:solidFill>
                          <a:latin typeface="Arial"/>
                        </a:rPr>
                        <a:t>2021</a:t>
                      </a:r>
                    </a:p>
                  </a:txBody>
                  <a:tcPr marL="45000" marR="45000" marT="20000" marB="20000" anchor="ctr"/>
                </a:tc>
                <a:tc>
                  <a:txBody>
                    <a:bodyPr/>
                    <a:lstStyle/>
                    <a:p>
                      <a:pPr algn="l"/>
                      <a:r>
                        <a:rPr sz="900" b="0">
                          <a:solidFill>
                            <a:srgbClr val="000000"/>
                          </a:solidFill>
                          <a:latin typeface="Arial"/>
                        </a:rPr>
                        <a:t>Flexible pressure</a:t>
                      </a:r>
                      <a:endParaRPr lang="en-US"/>
                    </a:p>
                    <a:p>
                      <a:pPr algn="l"/>
                      <a:r>
                        <a:rPr sz="900" b="0">
                          <a:solidFill>
                            <a:srgbClr val="000000"/>
                          </a:solidFill>
                          <a:latin typeface="Arial"/>
                        </a:rPr>
                        <a:t>sensors + Random</a:t>
                      </a:r>
                    </a:p>
                    <a:p>
                      <a:pPr algn="l"/>
                      <a:r>
                        <a:rPr sz="900" b="0">
                          <a:solidFill>
                            <a:srgbClr val="000000"/>
                          </a:solidFill>
                          <a:latin typeface="Arial"/>
                        </a:rPr>
                        <a:t>Forest classifier</a:t>
                      </a:r>
                    </a:p>
                  </a:txBody>
                  <a:tcPr marL="45000" marR="45000" marT="20000" marB="20000" anchor="ctr"/>
                </a:tc>
                <a:tc>
                  <a:txBody>
                    <a:bodyPr/>
                    <a:lstStyle/>
                    <a:p>
                      <a:pPr algn="l"/>
                      <a:r>
                        <a:rPr sz="900" b="0">
                          <a:solidFill>
                            <a:srgbClr val="000000"/>
                          </a:solidFill>
                          <a:latin typeface="Arial"/>
                        </a:rPr>
                        <a:t>94.7% accuracy;</a:t>
                      </a:r>
                      <a:endParaRPr lang="en-US" dirty="0"/>
                    </a:p>
                    <a:p>
                      <a:pPr algn="l"/>
                      <a:r>
                        <a:rPr sz="900" b="0">
                          <a:solidFill>
                            <a:srgbClr val="000000"/>
                          </a:solidFill>
                          <a:latin typeface="Arial"/>
                        </a:rPr>
                        <a:t>low-cost, durable</a:t>
                      </a:r>
                    </a:p>
                  </a:txBody>
                  <a:tcPr marL="45000" marR="45000" marT="20000" marB="20000" anchor="ctr"/>
                </a:tc>
                <a:extLst>
                  <a:ext uri="{0D108BD9-81ED-4DB2-BD59-A6C34878D82A}">
                    <a16:rowId xmlns:a16="http://schemas.microsoft.com/office/drawing/2014/main" val="10001"/>
                  </a:ext>
                </a:extLst>
              </a:tr>
              <a:tr h="460000">
                <a:tc>
                  <a:txBody>
                    <a:bodyPr/>
                    <a:lstStyle/>
                    <a:p>
                      <a:pPr algn="l"/>
                      <a:r>
                        <a:rPr sz="900" b="0">
                          <a:solidFill>
                            <a:srgbClr val="000000"/>
                          </a:solidFill>
                          <a:latin typeface="Arial"/>
                        </a:rPr>
                        <a:t>AI Driven Smart</a:t>
                      </a:r>
                      <a:endParaRPr lang="en-US"/>
                    </a:p>
                    <a:p>
                      <a:pPr algn="l"/>
                      <a:r>
                        <a:rPr sz="900" b="0">
                          <a:solidFill>
                            <a:srgbClr val="000000"/>
                          </a:solidFill>
                          <a:latin typeface="Arial"/>
                        </a:rPr>
                        <a:t>Orthopaedic Insoles</a:t>
                      </a:r>
                    </a:p>
                  </a:txBody>
                  <a:tcPr marL="45000" marR="45000" marT="20000" marB="20000" anchor="ctr"/>
                </a:tc>
                <a:tc>
                  <a:txBody>
                    <a:bodyPr/>
                    <a:lstStyle/>
                    <a:p>
                      <a:pPr algn="l"/>
                      <a:r>
                        <a:rPr sz="900" b="0">
                          <a:solidFill>
                            <a:srgbClr val="000000"/>
                          </a:solidFill>
                          <a:latin typeface="Arial"/>
                        </a:rPr>
                        <a:t>D.S. et al.,</a:t>
                      </a:r>
                      <a:endParaRPr lang="en-US"/>
                    </a:p>
                    <a:p>
                      <a:pPr algn="l"/>
                      <a:r>
                        <a:rPr sz="900" b="0">
                          <a:solidFill>
                            <a:srgbClr val="000000"/>
                          </a:solidFill>
                          <a:latin typeface="Arial"/>
                        </a:rPr>
                        <a:t>2026</a:t>
                      </a:r>
                    </a:p>
                  </a:txBody>
                  <a:tcPr marL="45000" marR="45000" marT="20000" marB="20000" anchor="ctr"/>
                </a:tc>
                <a:tc>
                  <a:txBody>
                    <a:bodyPr/>
                    <a:lstStyle/>
                    <a:p>
                      <a:pPr algn="l"/>
                      <a:r>
                        <a:rPr sz="900" b="0">
                          <a:solidFill>
                            <a:srgbClr val="000000"/>
                          </a:solidFill>
                          <a:latin typeface="Arial"/>
                        </a:rPr>
                        <a:t>FSR + DS18B20 +</a:t>
                      </a:r>
                      <a:endParaRPr lang="en-US"/>
                    </a:p>
                    <a:p>
                      <a:pPr algn="l"/>
                      <a:r>
                        <a:rPr sz="900" b="0">
                          <a:solidFill>
                            <a:srgbClr val="000000"/>
                          </a:solidFill>
                          <a:latin typeface="Arial"/>
                        </a:rPr>
                        <a:t>IMU + ESP32 + AI</a:t>
                      </a:r>
                    </a:p>
                  </a:txBody>
                  <a:tcPr marL="45000" marR="45000" marT="20000" marB="20000" anchor="ctr"/>
                </a:tc>
                <a:tc>
                  <a:txBody>
                    <a:bodyPr/>
                    <a:lstStyle/>
                    <a:p>
                      <a:pPr algn="l"/>
                      <a:r>
                        <a:rPr sz="900" b="0">
                          <a:solidFill>
                            <a:srgbClr val="000000"/>
                          </a:solidFill>
                          <a:latin typeface="Arial"/>
                        </a:rPr>
                        <a:t>Multimodal sensing;</a:t>
                      </a:r>
                      <a:endParaRPr lang="en-US" dirty="0"/>
                    </a:p>
                    <a:p>
                      <a:pPr algn="l"/>
                      <a:r>
                        <a:rPr sz="900" b="0">
                          <a:solidFill>
                            <a:srgbClr val="000000"/>
                          </a:solidFill>
                          <a:latin typeface="Arial"/>
                        </a:rPr>
                        <a:t>closest match to our</a:t>
                      </a:r>
                    </a:p>
                    <a:p>
                      <a:pPr algn="l"/>
                      <a:r>
                        <a:rPr sz="900" b="0">
                          <a:solidFill>
                            <a:srgbClr val="000000"/>
                          </a:solidFill>
                          <a:latin typeface="Arial"/>
                        </a:rPr>
                        <a:t>project</a:t>
                      </a:r>
                    </a:p>
                  </a:txBody>
                  <a:tcPr marL="45000" marR="45000" marT="20000" marB="20000" anchor="ctr"/>
                </a:tc>
                <a:extLst>
                  <a:ext uri="{0D108BD9-81ED-4DB2-BD59-A6C34878D82A}">
                    <a16:rowId xmlns:a16="http://schemas.microsoft.com/office/drawing/2014/main" val="10002"/>
                  </a:ext>
                </a:extLst>
              </a:tr>
              <a:tr h="460000">
                <a:tc>
                  <a:txBody>
                    <a:bodyPr/>
                    <a:lstStyle/>
                    <a:p>
                      <a:pPr algn="l"/>
                      <a:r>
                        <a:rPr sz="900" b="0">
                          <a:solidFill>
                            <a:srgbClr val="000000"/>
                          </a:solidFill>
                          <a:latin typeface="Arial"/>
                        </a:rPr>
                        <a:t>DiaShoe: Smart Shoe</a:t>
                      </a:r>
                      <a:endParaRPr lang="en-US"/>
                    </a:p>
                    <a:p>
                      <a:pPr algn="l"/>
                      <a:r>
                        <a:rPr sz="900" b="0">
                          <a:solidFill>
                            <a:srgbClr val="000000"/>
                          </a:solidFill>
                          <a:latin typeface="Arial"/>
                        </a:rPr>
                        <a:t>for Diabetic Monitoring</a:t>
                      </a:r>
                    </a:p>
                  </a:txBody>
                  <a:tcPr marL="45000" marR="45000" marT="20000" marB="20000" anchor="ctr"/>
                </a:tc>
                <a:tc>
                  <a:txBody>
                    <a:bodyPr/>
                    <a:lstStyle/>
                    <a:p>
                      <a:pPr algn="l"/>
                      <a:r>
                        <a:rPr sz="900" b="0">
                          <a:solidFill>
                            <a:srgbClr val="000000"/>
                          </a:solidFill>
                          <a:latin typeface="Arial"/>
                        </a:rPr>
                        <a:t>X. Chen et al.,</a:t>
                      </a:r>
                      <a:endParaRPr lang="en-US"/>
                    </a:p>
                    <a:p>
                      <a:pPr algn="l"/>
                      <a:r>
                        <a:rPr sz="900" b="0">
                          <a:solidFill>
                            <a:srgbClr val="000000"/>
                          </a:solidFill>
                          <a:latin typeface="Arial"/>
                        </a:rPr>
                        <a:t>2026</a:t>
                      </a:r>
                    </a:p>
                  </a:txBody>
                  <a:tcPr marL="45000" marR="45000" marT="20000" marB="20000" anchor="ctr"/>
                </a:tc>
                <a:tc>
                  <a:txBody>
                    <a:bodyPr/>
                    <a:lstStyle/>
                    <a:p>
                      <a:pPr algn="l"/>
                      <a:r>
                        <a:rPr sz="900" b="0">
                          <a:solidFill>
                            <a:srgbClr val="000000"/>
                          </a:solidFill>
                          <a:latin typeface="Arial"/>
                        </a:rPr>
                        <a:t>FSR + IMU + Temp +</a:t>
                      </a:r>
                      <a:endParaRPr lang="en-US"/>
                    </a:p>
                    <a:p>
                      <a:pPr algn="l"/>
                      <a:r>
                        <a:rPr sz="900" b="0">
                          <a:solidFill>
                            <a:srgbClr val="000000"/>
                          </a:solidFill>
                          <a:latin typeface="Arial"/>
                        </a:rPr>
                        <a:t>TabPFN + Knowledge</a:t>
                      </a:r>
                    </a:p>
                    <a:p>
                      <a:pPr algn="l"/>
                      <a:r>
                        <a:rPr sz="900" b="0">
                          <a:solidFill>
                            <a:srgbClr val="000000"/>
                          </a:solidFill>
                          <a:latin typeface="Arial"/>
                        </a:rPr>
                        <a:t>Distillation</a:t>
                      </a:r>
                    </a:p>
                  </a:txBody>
                  <a:tcPr marL="45000" marR="45000" marT="20000" marB="20000" anchor="ctr"/>
                </a:tc>
                <a:tc>
                  <a:txBody>
                    <a:bodyPr/>
                    <a:lstStyle/>
                    <a:p>
                      <a:pPr algn="l"/>
                      <a:r>
                        <a:rPr sz="900" b="0">
                          <a:solidFill>
                            <a:srgbClr val="000000"/>
                          </a:solidFill>
                          <a:latin typeface="Arial"/>
                        </a:rPr>
                        <a:t>96% activity accuracy;</a:t>
                      </a:r>
                      <a:endParaRPr lang="en-US" dirty="0"/>
                    </a:p>
                    <a:p>
                      <a:pPr algn="l"/>
                      <a:r>
                        <a:rPr sz="900" b="0">
                          <a:solidFill>
                            <a:srgbClr val="000000"/>
                          </a:solidFill>
                          <a:latin typeface="Arial"/>
                        </a:rPr>
                        <a:t>runs on embedded</a:t>
                      </a:r>
                    </a:p>
                    <a:p>
                      <a:pPr algn="l"/>
                      <a:r>
                        <a:rPr sz="900" b="0">
                          <a:solidFill>
                            <a:srgbClr val="000000"/>
                          </a:solidFill>
                          <a:latin typeface="Arial"/>
                        </a:rPr>
                        <a:t>hardware</a:t>
                      </a:r>
                    </a:p>
                  </a:txBody>
                  <a:tcPr marL="45000" marR="45000" marT="20000" marB="20000" anchor="ctr"/>
                </a:tc>
                <a:extLst>
                  <a:ext uri="{0D108BD9-81ED-4DB2-BD59-A6C34878D82A}">
                    <a16:rowId xmlns:a16="http://schemas.microsoft.com/office/drawing/2014/main" val="10003"/>
                  </a:ext>
                </a:extLst>
              </a:tr>
              <a:tr h="460000">
                <a:tc>
                  <a:txBody>
                    <a:bodyPr/>
                    <a:lstStyle/>
                    <a:p>
                      <a:pPr algn="l"/>
                      <a:r>
                        <a:rPr sz="900" b="0">
                          <a:solidFill>
                            <a:srgbClr val="000000"/>
                          </a:solidFill>
                          <a:latin typeface="Arial"/>
                        </a:rPr>
                        <a:t>Explainable AI</a:t>
                      </a:r>
                      <a:endParaRPr lang="en-US"/>
                    </a:p>
                    <a:p>
                      <a:pPr algn="l"/>
                      <a:r>
                        <a:rPr sz="900" b="0">
                          <a:solidFill>
                            <a:srgbClr val="000000"/>
                          </a:solidFill>
                          <a:latin typeface="Arial"/>
                        </a:rPr>
                        <a:t>Framework for DFU</a:t>
                      </a:r>
                    </a:p>
                  </a:txBody>
                  <a:tcPr marL="45000" marR="45000" marT="20000" marB="20000" anchor="ctr"/>
                </a:tc>
                <a:tc>
                  <a:txBody>
                    <a:bodyPr/>
                    <a:lstStyle/>
                    <a:p>
                      <a:pPr algn="l"/>
                      <a:r>
                        <a:rPr sz="900" b="0">
                          <a:solidFill>
                            <a:srgbClr val="000000"/>
                          </a:solidFill>
                          <a:latin typeface="Arial"/>
                        </a:rPr>
                        <a:t>P. Velvizhy et al.,</a:t>
                      </a:r>
                      <a:endParaRPr lang="en-US"/>
                    </a:p>
                    <a:p>
                      <a:pPr algn="l"/>
                      <a:r>
                        <a:rPr sz="900" b="0">
                          <a:solidFill>
                            <a:srgbClr val="000000"/>
                          </a:solidFill>
                          <a:latin typeface="Arial"/>
                        </a:rPr>
                        <a:t>2025</a:t>
                      </a:r>
                    </a:p>
                  </a:txBody>
                  <a:tcPr marL="45000" marR="45000" marT="20000" marB="20000" anchor="ctr"/>
                </a:tc>
                <a:tc>
                  <a:txBody>
                    <a:bodyPr/>
                    <a:lstStyle/>
                    <a:p>
                      <a:pPr algn="l"/>
                      <a:r>
                        <a:rPr sz="900" b="0">
                          <a:solidFill>
                            <a:srgbClr val="000000"/>
                          </a:solidFill>
                          <a:latin typeface="Arial"/>
                        </a:rPr>
                        <a:t>EfficientNetB0 +</a:t>
                      </a:r>
                      <a:endParaRPr lang="en-US"/>
                    </a:p>
                    <a:p>
                      <a:pPr algn="l"/>
                      <a:r>
                        <a:rPr sz="900" b="0">
                          <a:solidFill>
                            <a:srgbClr val="000000"/>
                          </a:solidFill>
                          <a:latin typeface="Arial"/>
                        </a:rPr>
                        <a:t>SHAP / LIME /</a:t>
                      </a:r>
                    </a:p>
                    <a:p>
                      <a:pPr algn="l"/>
                      <a:r>
                        <a:rPr sz="900" b="0">
                          <a:solidFill>
                            <a:srgbClr val="000000"/>
                          </a:solidFill>
                          <a:latin typeface="Arial"/>
                        </a:rPr>
                        <a:t>Grad-CAM</a:t>
                      </a:r>
                    </a:p>
                  </a:txBody>
                  <a:tcPr marL="45000" marR="45000" marT="20000" marB="20000" anchor="ctr"/>
                </a:tc>
                <a:tc>
                  <a:txBody>
                    <a:bodyPr/>
                    <a:lstStyle/>
                    <a:p>
                      <a:pPr algn="l"/>
                      <a:r>
                        <a:rPr sz="900" b="0">
                          <a:solidFill>
                            <a:srgbClr val="000000"/>
                          </a:solidFill>
                          <a:latin typeface="Arial"/>
                        </a:rPr>
                        <a:t>96.97% accuracy;</a:t>
                      </a:r>
                      <a:endParaRPr lang="en-US" dirty="0"/>
                    </a:p>
                    <a:p>
                      <a:pPr algn="l"/>
                      <a:r>
                        <a:rPr sz="900" b="0">
                          <a:solidFill>
                            <a:srgbClr val="000000"/>
                          </a:solidFill>
                          <a:latin typeface="Arial"/>
                        </a:rPr>
                        <a:t>uses Explainable AI</a:t>
                      </a:r>
                    </a:p>
                  </a:txBody>
                  <a:tcPr marL="45000" marR="45000" marT="20000" marB="20000" anchor="ctr"/>
                </a:tc>
                <a:extLst>
                  <a:ext uri="{0D108BD9-81ED-4DB2-BD59-A6C34878D82A}">
                    <a16:rowId xmlns:a16="http://schemas.microsoft.com/office/drawing/2014/main" val="10004"/>
                  </a:ext>
                </a:extLst>
              </a:tr>
              <a:tr h="460000">
                <a:tc>
                  <a:txBody>
                    <a:bodyPr/>
                    <a:lstStyle/>
                    <a:p>
                      <a:pPr algn="l"/>
                      <a:r>
                        <a:rPr sz="900" b="0">
                          <a:solidFill>
                            <a:srgbClr val="000000"/>
                          </a:solidFill>
                          <a:latin typeface="Arial"/>
                        </a:rPr>
                        <a:t>Severity Prediction</a:t>
                      </a:r>
                      <a:endParaRPr lang="en-US"/>
                    </a:p>
                    <a:p>
                      <a:pPr algn="l"/>
                      <a:r>
                        <a:rPr sz="900" b="0">
                          <a:solidFill>
                            <a:srgbClr val="000000"/>
                          </a:solidFill>
                          <a:latin typeface="Arial"/>
                        </a:rPr>
                        <a:t>using Hybrid ML</a:t>
                      </a:r>
                    </a:p>
                  </a:txBody>
                  <a:tcPr marL="45000" marR="45000" marT="20000" marB="20000" anchor="ctr"/>
                </a:tc>
                <a:tc>
                  <a:txBody>
                    <a:bodyPr/>
                    <a:lstStyle/>
                    <a:p>
                      <a:pPr algn="l"/>
                      <a:r>
                        <a:rPr sz="900" b="0">
                          <a:solidFill>
                            <a:srgbClr val="000000"/>
                          </a:solidFill>
                          <a:latin typeface="Arial"/>
                        </a:rPr>
                        <a:t>R. Satheesh et al.,</a:t>
                      </a:r>
                      <a:endParaRPr lang="en-US"/>
                    </a:p>
                    <a:p>
                      <a:pPr algn="l"/>
                      <a:r>
                        <a:rPr sz="900" b="0">
                          <a:solidFill>
                            <a:srgbClr val="000000"/>
                          </a:solidFill>
                          <a:latin typeface="Arial"/>
                        </a:rPr>
                        <a:t>2025</a:t>
                      </a:r>
                    </a:p>
                  </a:txBody>
                  <a:tcPr marL="45000" marR="45000" marT="20000" marB="20000" anchor="ctr"/>
                </a:tc>
                <a:tc>
                  <a:txBody>
                    <a:bodyPr/>
                    <a:lstStyle/>
                    <a:p>
                      <a:pPr algn="l"/>
                      <a:r>
                        <a:rPr sz="900" b="0">
                          <a:solidFill>
                            <a:srgbClr val="000000"/>
                          </a:solidFill>
                          <a:latin typeface="Arial"/>
                        </a:rPr>
                        <a:t>CNN + LSTM +</a:t>
                      </a:r>
                      <a:endParaRPr lang="en-US"/>
                    </a:p>
                    <a:p>
                      <a:pPr algn="l"/>
                      <a:r>
                        <a:rPr sz="900" b="0">
                          <a:solidFill>
                            <a:srgbClr val="000000"/>
                          </a:solidFill>
                          <a:latin typeface="Arial"/>
                        </a:rPr>
                        <a:t>SHAP / Grad-CAM</a:t>
                      </a:r>
                    </a:p>
                  </a:txBody>
                  <a:tcPr marL="45000" marR="45000" marT="20000" marB="20000" anchor="ctr"/>
                </a:tc>
                <a:tc>
                  <a:txBody>
                    <a:bodyPr/>
                    <a:lstStyle/>
                    <a:p>
                      <a:pPr algn="l"/>
                      <a:r>
                        <a:rPr sz="900" b="0">
                          <a:solidFill>
                            <a:srgbClr val="000000"/>
                          </a:solidFill>
                          <a:latin typeface="Arial"/>
                        </a:rPr>
                        <a:t>95.4% accuracy;</a:t>
                      </a:r>
                      <a:endParaRPr lang="en-US" dirty="0"/>
                    </a:p>
                    <a:p>
                      <a:pPr algn="l"/>
                      <a:r>
                        <a:rPr sz="900" b="0">
                          <a:solidFill>
                            <a:srgbClr val="000000"/>
                          </a:solidFill>
                          <a:latin typeface="Arial"/>
                        </a:rPr>
                        <a:t>multimodal + XAI</a:t>
                      </a:r>
                    </a:p>
                    <a:p>
                      <a:pPr algn="l"/>
                      <a:r>
                        <a:rPr sz="900" b="0">
                          <a:solidFill>
                            <a:srgbClr val="000000"/>
                          </a:solidFill>
                          <a:latin typeface="Arial"/>
                        </a:rPr>
                        <a:t>concept</a:t>
                      </a:r>
                    </a:p>
                  </a:txBody>
                  <a:tcPr marL="45000" marR="45000" marT="20000" marB="20000" anchor="ctr"/>
                </a:tc>
                <a:extLst>
                  <a:ext uri="{0D108BD9-81ED-4DB2-BD59-A6C34878D82A}">
                    <a16:rowId xmlns:a16="http://schemas.microsoft.com/office/drawing/2014/main" val="10005"/>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3656361462"/>
              </p:ext>
            </p:extLst>
          </p:nvPr>
        </p:nvGraphicFramePr>
        <p:xfrm>
          <a:off x="7150000" y="1780000"/>
          <a:ext cx="1600000" cy="2760000"/>
        </p:xfrm>
        <a:graphic>
          <a:graphicData uri="http://schemas.openxmlformats.org/drawingml/2006/table">
            <a:tbl>
              <a:tblPr firstRow="1" bandRow="1">
                <a:tableStyleId>{5C22544A-7EE6-4342-B048-85BDC9FD1C3A}</a:tableStyleId>
              </a:tblPr>
              <a:tblGrid>
                <a:gridCol w="1600000">
                  <a:extLst>
                    <a:ext uri="{9D8B030D-6E8A-4147-A177-3AD203B41FA5}">
                      <a16:colId xmlns:a16="http://schemas.microsoft.com/office/drawing/2014/main" val="20000"/>
                    </a:ext>
                  </a:extLst>
                </a:gridCol>
              </a:tblGrid>
              <a:tr h="460000">
                <a:tc>
                  <a:txBody>
                    <a:bodyPr/>
                    <a:lstStyle/>
                    <a:p>
                      <a:r>
                        <a:rPr lang="en-US" dirty="0"/>
                        <a:t>Demerits </a:t>
                      </a:r>
                    </a:p>
                  </a:txBody>
                  <a:tcPr/>
                </a:tc>
                <a:extLst>
                  <a:ext uri="{0D108BD9-81ED-4DB2-BD59-A6C34878D82A}">
                    <a16:rowId xmlns:a16="http://schemas.microsoft.com/office/drawing/2014/main" val="10000"/>
                  </a:ext>
                </a:extLst>
              </a:tr>
              <a:tr h="460000">
                <a:tc>
                  <a:txBody>
                    <a:bodyPr/>
                    <a:lstStyle/>
                    <a:p>
                      <a:pPr algn="l"/>
                      <a:r>
                        <a:rPr sz="850" b="0">
                          <a:solidFill>
                            <a:srgbClr val="000000"/>
                          </a:solidFill>
                          <a:latin typeface="Arial"/>
                        </a:rPr>
                        <a:t>No activity sensing;</a:t>
                      </a:r>
                      <a:endParaRPr lang="en-US" dirty="0"/>
                    </a:p>
                    <a:p>
                      <a:pPr algn="l"/>
                      <a:r>
                        <a:rPr sz="850" b="0">
                          <a:solidFill>
                            <a:srgbClr val="000000"/>
                          </a:solidFill>
                          <a:latin typeface="Arial"/>
                        </a:rPr>
                        <a:t>no Explainable AI</a:t>
                      </a:r>
                    </a:p>
                  </a:txBody>
                  <a:tcPr marL="45000" marR="45000" marT="20000" marB="20000" anchor="ctr"/>
                </a:tc>
                <a:extLst>
                  <a:ext uri="{0D108BD9-81ED-4DB2-BD59-A6C34878D82A}">
                    <a16:rowId xmlns:a16="http://schemas.microsoft.com/office/drawing/2014/main" val="10001"/>
                  </a:ext>
                </a:extLst>
              </a:tr>
              <a:tr h="460000">
                <a:tc>
                  <a:txBody>
                    <a:bodyPr/>
                    <a:lstStyle/>
                    <a:p>
                      <a:pPr algn="l"/>
                      <a:r>
                        <a:rPr sz="850" b="0">
                          <a:solidFill>
                            <a:srgbClr val="000000"/>
                          </a:solidFill>
                          <a:latin typeface="Arial"/>
                        </a:rPr>
                        <a:t>No quantitative</a:t>
                      </a:r>
                      <a:endParaRPr lang="en-US"/>
                    </a:p>
                    <a:p>
                      <a:pPr algn="l"/>
                      <a:r>
                        <a:rPr sz="850" b="0">
                          <a:solidFill>
                            <a:srgbClr val="000000"/>
                          </a:solidFill>
                          <a:latin typeface="Arial"/>
                        </a:rPr>
                        <a:t>validation; no XAI</a:t>
                      </a:r>
                    </a:p>
                  </a:txBody>
                  <a:tcPr marL="45000" marR="45000" marT="20000" marB="20000" anchor="ctr"/>
                </a:tc>
                <a:extLst>
                  <a:ext uri="{0D108BD9-81ED-4DB2-BD59-A6C34878D82A}">
                    <a16:rowId xmlns:a16="http://schemas.microsoft.com/office/drawing/2014/main" val="10002"/>
                  </a:ext>
                </a:extLst>
              </a:tr>
              <a:tr h="460000">
                <a:tc>
                  <a:txBody>
                    <a:bodyPr/>
                    <a:lstStyle/>
                    <a:p>
                      <a:pPr algn="l"/>
                      <a:r>
                        <a:rPr sz="850" b="0">
                          <a:solidFill>
                            <a:srgbClr val="000000"/>
                          </a:solidFill>
                          <a:latin typeface="Arial"/>
                        </a:rPr>
                        <a:t>No Explainable AI</a:t>
                      </a:r>
                      <a:endParaRPr lang="en-US" dirty="0"/>
                    </a:p>
                  </a:txBody>
                  <a:tcPr marL="45000" marR="45000" marT="20000" marB="20000" anchor="ctr"/>
                </a:tc>
                <a:extLst>
                  <a:ext uri="{0D108BD9-81ED-4DB2-BD59-A6C34878D82A}">
                    <a16:rowId xmlns:a16="http://schemas.microsoft.com/office/drawing/2014/main" val="10003"/>
                  </a:ext>
                </a:extLst>
              </a:tr>
              <a:tr h="460000">
                <a:tc>
                  <a:txBody>
                    <a:bodyPr/>
                    <a:lstStyle/>
                    <a:p>
                      <a:pPr algn="l"/>
                      <a:r>
                        <a:rPr sz="850" b="0">
                          <a:solidFill>
                            <a:srgbClr val="000000"/>
                          </a:solidFill>
                          <a:latin typeface="Arial"/>
                        </a:rPr>
                        <a:t>Works on static images,</a:t>
                      </a:r>
                      <a:endParaRPr lang="en-US" dirty="0"/>
                    </a:p>
                    <a:p>
                      <a:pPr algn="l"/>
                      <a:r>
                        <a:rPr sz="850" b="0">
                          <a:solidFill>
                            <a:srgbClr val="000000"/>
                          </a:solidFill>
                          <a:latin typeface="Arial"/>
                        </a:rPr>
                        <a:t>not a continuous</a:t>
                      </a:r>
                    </a:p>
                    <a:p>
                      <a:pPr algn="l"/>
                      <a:r>
                        <a:rPr sz="850" b="0">
                          <a:solidFill>
                            <a:srgbClr val="000000"/>
                          </a:solidFill>
                          <a:latin typeface="Arial"/>
                        </a:rPr>
                        <a:t>wearable</a:t>
                      </a:r>
                    </a:p>
                  </a:txBody>
                  <a:tcPr marL="45000" marR="45000" marT="20000" marB="20000" anchor="ctr"/>
                </a:tc>
                <a:extLst>
                  <a:ext uri="{0D108BD9-81ED-4DB2-BD59-A6C34878D82A}">
                    <a16:rowId xmlns:a16="http://schemas.microsoft.com/office/drawing/2014/main" val="10004"/>
                  </a:ext>
                </a:extLst>
              </a:tr>
              <a:tr h="460000">
                <a:tc>
                  <a:txBody>
                    <a:bodyPr/>
                    <a:lstStyle/>
                    <a:p>
                      <a:pPr algn="l"/>
                      <a:r>
                        <a:rPr sz="850" b="0">
                          <a:solidFill>
                            <a:srgbClr val="000000"/>
                          </a:solidFill>
                          <a:latin typeface="Arial"/>
                        </a:rPr>
                        <a:t>Conceptual only;</a:t>
                      </a:r>
                      <a:endParaRPr lang="en-US" dirty="0"/>
                    </a:p>
                    <a:p>
                      <a:pPr algn="l"/>
                      <a:r>
                        <a:rPr sz="850" b="0">
                          <a:solidFill>
                            <a:srgbClr val="000000"/>
                          </a:solidFill>
                          <a:latin typeface="Arial"/>
                        </a:rPr>
                        <a:t>untested on real</a:t>
                      </a:r>
                    </a:p>
                    <a:p>
                      <a:pPr algn="l"/>
                      <a:r>
                        <a:rPr sz="850" b="0">
                          <a:solidFill>
                            <a:srgbClr val="000000"/>
                          </a:solidFill>
                          <a:latin typeface="Arial"/>
                        </a:rPr>
                        <a:t>hardware</a:t>
                      </a:r>
                    </a:p>
                  </a:txBody>
                  <a:tcPr marL="45000" marR="45000" marT="20000" marB="2000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913776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p:nvPr/>
        </p:nvSpPr>
        <p:spPr>
          <a:xfrm>
            <a:off x="1973755" y="0"/>
            <a:ext cx="4219800" cy="1293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3600" dirty="0">
                <a:solidFill>
                  <a:schemeClr val="dk1"/>
                </a:solidFill>
              </a:rPr>
              <a:t>PROBLEM STATEMENT</a:t>
            </a:r>
            <a:endParaRPr sz="3600" dirty="0"/>
          </a:p>
        </p:txBody>
      </p:sp>
      <p:sp>
        <p:nvSpPr>
          <p:cNvPr id="67" name="TextBox 66"/>
          <p:cNvSpPr txBox="1"/>
          <p:nvPr/>
        </p:nvSpPr>
        <p:spPr>
          <a:xfrm>
            <a:off x="400000" y="1350000"/>
            <a:ext cx="8344000" cy="3700000"/>
          </a:xfrm>
          <a:prstGeom prst="rect">
            <a:avLst/>
          </a:prstGeom>
          <a:noFill/>
        </p:spPr>
        <p:txBody>
          <a:bodyPr wrap="square" lIns="0" tIns="0" rIns="0" bIns="0" anchor="t">
            <a:spAutoFit/>
          </a:bodyPr>
          <a:lstStyle/>
          <a:p>
            <a:pPr marL="228600" indent="-228600" algn="l">
              <a:spcAft>
                <a:spcPts val="800"/>
              </a:spcAft>
              <a:buChar char="•"/>
            </a:pPr>
            <a:r>
              <a:rPr sz="1500" b="0">
                <a:solidFill>
                  <a:srgbClr val="000000"/>
                </a:solidFill>
                <a:latin typeface="Arial"/>
              </a:rPr>
              <a:t>Diabetic patients with peripheral neuropathy lose sensation in their feet and cannot feel minor injuries, pressure points, or early warning signs.</a:t>
            </a:r>
          </a:p>
          <a:p>
            <a:pPr marL="228600" indent="-228600" algn="l">
              <a:spcAft>
                <a:spcPts val="800"/>
              </a:spcAft>
              <a:buChar char="•"/>
            </a:pPr>
            <a:r>
              <a:rPr sz="1500" b="0">
                <a:solidFill>
                  <a:srgbClr val="000000"/>
                </a:solidFill>
                <a:latin typeface="Arial"/>
              </a:rPr>
              <a:t>Continuous pressure on unnoticed injuries worsens tissue damage, turning small wounds into ulcers, which can become infected and lead to amputation.</a:t>
            </a:r>
          </a:p>
          <a:p>
            <a:pPr marL="228600" indent="-228600" algn="l">
              <a:spcAft>
                <a:spcPts val="800"/>
              </a:spcAft>
              <a:buChar char="•"/>
            </a:pPr>
            <a:r>
              <a:rPr sz="1500" b="0">
                <a:solidFill>
                  <a:srgbClr val="000000"/>
                </a:solidFill>
                <a:latin typeface="Arial"/>
              </a:rPr>
              <a:t>Current monitoring relies on periodic hospital visits, leaving patients unmonitored for most of their daily activity.</a:t>
            </a:r>
          </a:p>
          <a:p>
            <a:pPr marL="228600" indent="-228600" algn="l">
              <a:spcAft>
                <a:spcPts val="800"/>
              </a:spcAft>
              <a:buChar char="•"/>
            </a:pPr>
            <a:r>
              <a:rPr sz="1500" b="0">
                <a:solidFill>
                  <a:srgbClr val="000000"/>
                </a:solidFill>
                <a:latin typeface="Arial"/>
              </a:rPr>
              <a:t>Existing wearable devices typically track only one parameter (pressure OR temperature), using fixed thresholds that generate false alarms.</a:t>
            </a:r>
          </a:p>
          <a:p>
            <a:pPr marL="228600" indent="-228600" algn="l">
              <a:spcAft>
                <a:spcPts val="800"/>
              </a:spcAft>
              <a:buChar char="•"/>
            </a:pPr>
            <a:r>
              <a:rPr sz="1500" b="0">
                <a:solidFill>
                  <a:srgbClr val="000000"/>
                </a:solidFill>
                <a:latin typeface="Arial"/>
              </a:rPr>
              <a:t>Most systems ignore physical activity, even though pressure varies significantly between standing, walking, and resting.</a:t>
            </a:r>
          </a:p>
          <a:p>
            <a:pPr marL="228600" indent="-228600" algn="l">
              <a:spcAft>
                <a:spcPts val="800"/>
              </a:spcAft>
              <a:buChar char="•"/>
            </a:pPr>
            <a:r>
              <a:rPr sz="1500" b="0">
                <a:solidFill>
                  <a:srgbClr val="000000"/>
                </a:solidFill>
                <a:latin typeface="Arial"/>
              </a:rPr>
              <a:t>Existing AI-based prediction systems, where present, do not explain why a prediction was made, reducing clinical trust.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6"/>
          <p:cNvSpPr txBox="1"/>
          <p:nvPr/>
        </p:nvSpPr>
        <p:spPr>
          <a:xfrm>
            <a:off x="2076625" y="0"/>
            <a:ext cx="55155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600">
                <a:solidFill>
                  <a:schemeClr val="dk1"/>
                </a:solidFill>
              </a:rPr>
              <a:t>EXISTING SYSTEM </a:t>
            </a:r>
            <a:endParaRPr sz="100"/>
          </a:p>
        </p:txBody>
      </p:sp>
      <p:sp>
        <p:nvSpPr>
          <p:cNvPr id="72" name="TextBox 71"/>
          <p:cNvSpPr txBox="1"/>
          <p:nvPr/>
        </p:nvSpPr>
        <p:spPr>
          <a:xfrm>
            <a:off x="400000" y="900000"/>
            <a:ext cx="8344000" cy="4100000"/>
          </a:xfrm>
          <a:prstGeom prst="rect">
            <a:avLst/>
          </a:prstGeom>
          <a:noFill/>
        </p:spPr>
        <p:txBody>
          <a:bodyPr wrap="square" lIns="0" tIns="0" rIns="0" bIns="0" anchor="t">
            <a:spAutoFit/>
          </a:bodyPr>
          <a:lstStyle/>
          <a:p>
            <a:pPr marL="228600" indent="-228600" algn="l">
              <a:spcAft>
                <a:spcPts val="800"/>
              </a:spcAft>
              <a:buChar char="•"/>
            </a:pPr>
            <a:r>
              <a:rPr sz="1500" b="0">
                <a:solidFill>
                  <a:srgbClr val="000000"/>
                </a:solidFill>
                <a:latin typeface="Arial"/>
              </a:rPr>
              <a:t>Threshold-based smart insoles/slippers (FSR + DS18B20 + ESP32/ESP8266) send pressure and temperature alerts over BLE/Wi-Fi when fixed limits are crossed.</a:t>
            </a:r>
          </a:p>
          <a:p>
            <a:pPr marL="228600" indent="-228600" algn="l">
              <a:spcAft>
                <a:spcPts val="800"/>
              </a:spcAft>
              <a:buChar char="•"/>
            </a:pPr>
            <a:r>
              <a:rPr sz="1500" b="0">
                <a:solidFill>
                  <a:srgbClr val="000000"/>
                </a:solidFill>
                <a:latin typeface="Arial"/>
              </a:rPr>
              <a:t>These systems cannot adapt to individual patient baselines, resulting in frequent false alarms or missed early-stage changes.</a:t>
            </a:r>
          </a:p>
          <a:p>
            <a:pPr marL="228600" indent="-228600" algn="l">
              <a:spcAft>
                <a:spcPts val="800"/>
              </a:spcAft>
              <a:buChar char="•"/>
            </a:pPr>
            <a:r>
              <a:rPr sz="1500" b="0">
                <a:solidFill>
                  <a:srgbClr val="000000"/>
                </a:solidFill>
                <a:latin typeface="Arial"/>
              </a:rPr>
              <a:t>A smaller set of systems use Machine Learning (Random Forest, SVM) on pressure or clinical data, reaching 94–96% classification accuracy.</a:t>
            </a:r>
          </a:p>
          <a:p>
            <a:pPr marL="228600" indent="-228600" algn="l">
              <a:spcAft>
                <a:spcPts val="800"/>
              </a:spcAft>
              <a:buChar char="•"/>
            </a:pPr>
            <a:r>
              <a:rPr sz="1500" b="0">
                <a:solidFill>
                  <a:srgbClr val="000000"/>
                </a:solidFill>
                <a:latin typeface="Arial"/>
              </a:rPr>
              <a:t>These ML-based systems ignore activity/gait context and do not explain their predictions.</a:t>
            </a:r>
          </a:p>
          <a:p>
            <a:pPr marL="228600" indent="-228600" algn="l">
              <a:spcAft>
                <a:spcPts val="800"/>
              </a:spcAft>
              <a:buChar char="•"/>
            </a:pPr>
            <a:r>
              <a:rPr sz="1500" b="0">
                <a:solidFill>
                  <a:srgbClr val="000000"/>
                </a:solidFill>
                <a:latin typeface="Arial"/>
              </a:rPr>
              <a:t>Only two known systems combine pressure, temperature, and activity sensing in one wearable — but neither includes Machine Learning validation or Explainable AI.</a:t>
            </a:r>
          </a:p>
          <a:p>
            <a:pPr marL="228600" indent="-228600" algn="l">
              <a:spcAft>
                <a:spcPts val="800"/>
              </a:spcAft>
              <a:buChar char="•"/>
            </a:pPr>
            <a:r>
              <a:rPr sz="1500" b="0">
                <a:solidFill>
                  <a:srgbClr val="000000"/>
                </a:solidFill>
                <a:latin typeface="Arial"/>
              </a:rPr>
              <a:t>A few Explainable AI (SHAP/LIME/Grad-CAM) systems exist for diabetic foot prediction, but they work on static images or clinical records, not a continuously worn device.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7"/>
          <p:cNvSpPr txBox="1"/>
          <p:nvPr/>
        </p:nvSpPr>
        <p:spPr>
          <a:xfrm>
            <a:off x="2076625" y="0"/>
            <a:ext cx="55155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600">
                <a:solidFill>
                  <a:schemeClr val="dk1"/>
                </a:solidFill>
              </a:rPr>
              <a:t>PROPOSED SYSTEM</a:t>
            </a:r>
            <a:endParaRPr sz="100"/>
          </a:p>
        </p:txBody>
      </p:sp>
      <p:sp>
        <p:nvSpPr>
          <p:cNvPr id="77" name="TextBox 76"/>
          <p:cNvSpPr txBox="1"/>
          <p:nvPr/>
        </p:nvSpPr>
        <p:spPr>
          <a:xfrm>
            <a:off x="400000" y="900000"/>
            <a:ext cx="8344000" cy="4100000"/>
          </a:xfrm>
          <a:prstGeom prst="rect">
            <a:avLst/>
          </a:prstGeom>
          <a:noFill/>
        </p:spPr>
        <p:txBody>
          <a:bodyPr wrap="square" lIns="0" tIns="0" rIns="0" bIns="0" anchor="t">
            <a:spAutoFit/>
          </a:bodyPr>
          <a:lstStyle/>
          <a:p>
            <a:pPr marL="228600" indent="-228600" algn="l">
              <a:spcAft>
                <a:spcPts val="800"/>
              </a:spcAft>
              <a:buChar char="•"/>
            </a:pPr>
            <a:r>
              <a:rPr sz="1500" b="0">
                <a:solidFill>
                  <a:srgbClr val="000000"/>
                </a:solidFill>
                <a:latin typeface="Arial"/>
              </a:rPr>
              <a:t>An Activity-Aware Smart Insole that continuously monitors plantar pressure (FSR), foot temperature (DS18B20), and motion/activity (MPU6050 IMU) using an ESP32 microcontroller.</a:t>
            </a:r>
          </a:p>
          <a:p>
            <a:pPr marL="228600" indent="-228600" algn="l">
              <a:spcAft>
                <a:spcPts val="800"/>
              </a:spcAft>
              <a:buChar char="•"/>
            </a:pPr>
            <a:r>
              <a:rPr sz="1500" b="0">
                <a:solidFill>
                  <a:srgbClr val="000000"/>
                </a:solidFill>
                <a:latin typeface="Arial"/>
              </a:rPr>
              <a:t>Sensor data is transmitted via Wi-Fi/MQTT to a cloud backend and stored in a database for historical trend analysis.</a:t>
            </a:r>
          </a:p>
          <a:p>
            <a:pPr marL="228600" indent="-228600" algn="l">
              <a:spcAft>
                <a:spcPts val="800"/>
              </a:spcAft>
              <a:buChar char="•"/>
            </a:pPr>
            <a:r>
              <a:rPr sz="1500" b="0">
                <a:solidFill>
                  <a:srgbClr val="000000"/>
                </a:solidFill>
                <a:latin typeface="Arial"/>
              </a:rPr>
              <a:t>A supervised Machine Learning model (Random Forest / SVM / XGBoost) classifies diabetic foot ulcer risk as Low, Medium, or High.</a:t>
            </a:r>
          </a:p>
          <a:p>
            <a:pPr marL="228600" indent="-228600" algn="l">
              <a:spcAft>
                <a:spcPts val="800"/>
              </a:spcAft>
              <a:buChar char="•"/>
            </a:pPr>
            <a:r>
              <a:rPr sz="1500" b="0">
                <a:solidFill>
                  <a:srgbClr val="000000"/>
                </a:solidFill>
                <a:latin typeface="Arial"/>
              </a:rPr>
              <a:t>Explainable AI (SHAP/LIME) explains every prediction, showing which factor — pressure, temperature, or activity — contributed most to the risk assessment.</a:t>
            </a:r>
          </a:p>
          <a:p>
            <a:pPr marL="228600" indent="-228600" algn="l">
              <a:spcAft>
                <a:spcPts val="800"/>
              </a:spcAft>
              <a:buChar char="•"/>
            </a:pPr>
            <a:r>
              <a:rPr sz="1500" b="0">
                <a:solidFill>
                  <a:srgbClr val="000000"/>
                </a:solidFill>
                <a:latin typeface="Arial"/>
              </a:rPr>
              <a:t>A role-based dashboard delivers simple alerts to patients and detailed explanations to doctors, supporting early, informed intervention.</a:t>
            </a:r>
          </a:p>
          <a:p>
            <a:pPr marL="228600" indent="-228600" algn="l">
              <a:spcAft>
                <a:spcPts val="800"/>
              </a:spcAft>
              <a:buChar char="•"/>
            </a:pPr>
            <a:r>
              <a:rPr sz="1500" b="0">
                <a:solidFill>
                  <a:srgbClr val="000000"/>
                </a:solidFill>
                <a:latin typeface="Arial"/>
              </a:rPr>
              <a:t>Novelty: no existing system combines continuous multimodal sensing, Machine Learning, and Explainable AI in a single deployed wearable platform — this project fills that gap.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7"/>
          <p:cNvSpPr txBox="1"/>
          <p:nvPr/>
        </p:nvSpPr>
        <p:spPr>
          <a:xfrm>
            <a:off x="2076625" y="0"/>
            <a:ext cx="5515500" cy="1292631"/>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600" dirty="0">
                <a:solidFill>
                  <a:schemeClr val="dk1"/>
                </a:solidFill>
              </a:rPr>
              <a:t>ARCHITECTURE DIAGRAM</a:t>
            </a:r>
            <a:endParaRPr sz="100" dirty="0"/>
          </a:p>
        </p:txBody>
      </p:sp>
      <p:pic>
        <p:nvPicPr>
          <p:cNvPr id="77" name="Picture 76" descr="architecture_diagram.png"/>
          <p:cNvPicPr>
            <a:picLocks noChangeAspect="1"/>
          </p:cNvPicPr>
          <p:nvPr/>
        </p:nvPicPr>
        <p:blipFill>
          <a:blip r:embed="rId3"/>
          <a:stretch>
            <a:fillRect/>
          </a:stretch>
        </p:blipFill>
        <p:spPr>
          <a:xfrm>
            <a:off x="522000" y="1400000"/>
            <a:ext cx="8100000" cy="3430000"/>
          </a:xfrm>
          <a:prstGeom prst="rect">
            <a:avLst/>
          </a:prstGeom>
        </p:spPr>
      </p:pic>
      <p:sp>
        <p:nvSpPr>
          <p:cNvPr id="78" name="TextBox 77"/>
          <p:cNvSpPr txBox="1"/>
          <p:nvPr/>
        </p:nvSpPr>
        <p:spPr>
          <a:xfrm>
            <a:off x="400000" y="4870000"/>
            <a:ext cx="8344000" cy="250000"/>
          </a:xfrm>
          <a:prstGeom prst="rect">
            <a:avLst/>
          </a:prstGeom>
          <a:noFill/>
        </p:spPr>
        <p:txBody>
          <a:bodyPr wrap="square" lIns="0" tIns="0" rIns="0" bIns="0" anchor="t">
            <a:spAutoFit/>
          </a:bodyPr>
          <a:lstStyle/>
          <a:p>
            <a:pPr algn="ctr">
              <a:lnSpc>
                <a:spcPct val="115000"/>
              </a:lnSpc>
            </a:pPr>
            <a:r>
              <a:rPr sz="1300" i="1">
                <a:solidFill>
                  <a:srgbClr val="555555"/>
                </a:solidFill>
                <a:latin typeface="Arial"/>
              </a:rPr>
              <a:t>Fig. 1: System Architecture of the Proposed Activity-Aware Smart Insole</a:t>
            </a:r>
          </a:p>
        </p:txBody>
      </p:sp>
    </p:spTree>
    <p:extLst>
      <p:ext uri="{BB962C8B-B14F-4D97-AF65-F5344CB8AC3E}">
        <p14:creationId xmlns:p14="http://schemas.microsoft.com/office/powerpoint/2010/main" val="2499105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8"/>
          <p:cNvSpPr txBox="1"/>
          <p:nvPr/>
        </p:nvSpPr>
        <p:spPr>
          <a:xfrm>
            <a:off x="2076625" y="0"/>
            <a:ext cx="55155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600">
                <a:solidFill>
                  <a:schemeClr val="dk1"/>
                </a:solidFill>
              </a:rPr>
              <a:t>MODULE</a:t>
            </a:r>
            <a:endParaRPr sz="100"/>
          </a:p>
        </p:txBody>
      </p:sp>
      <p:pic>
        <p:nvPicPr>
          <p:cNvPr id="82" name="Picture 81" descr="icon_sensor.png"/>
          <p:cNvPicPr>
            <a:picLocks noChangeAspect="1"/>
          </p:cNvPicPr>
          <p:nvPr/>
        </p:nvPicPr>
        <p:blipFill>
          <a:blip r:embed="rId3"/>
          <a:stretch>
            <a:fillRect/>
          </a:stretch>
        </p:blipFill>
        <p:spPr>
          <a:xfrm>
            <a:off x="400000" y="1040000"/>
            <a:ext cx="430000" cy="430000"/>
          </a:xfrm>
          <a:prstGeom prst="rect">
            <a:avLst/>
          </a:prstGeom>
        </p:spPr>
      </p:pic>
      <p:sp>
        <p:nvSpPr>
          <p:cNvPr id="83" name="TextBox 82"/>
          <p:cNvSpPr txBox="1"/>
          <p:nvPr/>
        </p:nvSpPr>
        <p:spPr>
          <a:xfrm>
            <a:off x="1050000" y="1000000"/>
            <a:ext cx="7694000" cy="620000"/>
          </a:xfrm>
          <a:prstGeom prst="rect">
            <a:avLst/>
          </a:prstGeom>
          <a:noFill/>
        </p:spPr>
        <p:txBody>
          <a:bodyPr wrap="square" lIns="0" tIns="0" rIns="0" bIns="0" anchor="t">
            <a:spAutoFit/>
          </a:bodyPr>
          <a:lstStyle/>
          <a:p>
            <a:pPr>
              <a:spcAft>
                <a:spcPts val="200"/>
              </a:spcAft>
            </a:pPr>
            <a:r>
              <a:rPr sz="1500" b="1">
                <a:solidFill>
                  <a:srgbClr val="000000"/>
                </a:solidFill>
                <a:latin typeface="Arial"/>
              </a:rPr>
              <a:t>Sensor Module</a:t>
            </a:r>
          </a:p>
          <a:p>
            <a:pPr>
              <a:lnSpc>
                <a:spcPct val="105000"/>
              </a:lnSpc>
            </a:pPr>
            <a:r>
              <a:rPr sz="1250">
                <a:solidFill>
                  <a:srgbClr val="555555"/>
                </a:solidFill>
                <a:latin typeface="Arial"/>
              </a:rPr>
              <a:t>FSR pressure sensors, DS18B20 temperature sensor, MPU6050 IMU for activity detection</a:t>
            </a:r>
          </a:p>
        </p:txBody>
      </p:sp>
      <p:pic>
        <p:nvPicPr>
          <p:cNvPr id="84" name="Picture 83" descr="icon_comm.png"/>
          <p:cNvPicPr>
            <a:picLocks noChangeAspect="1"/>
          </p:cNvPicPr>
          <p:nvPr/>
        </p:nvPicPr>
        <p:blipFill>
          <a:blip r:embed="rId4"/>
          <a:stretch>
            <a:fillRect/>
          </a:stretch>
        </p:blipFill>
        <p:spPr>
          <a:xfrm>
            <a:off x="400000" y="1660000"/>
            <a:ext cx="430000" cy="430000"/>
          </a:xfrm>
          <a:prstGeom prst="rect">
            <a:avLst/>
          </a:prstGeom>
        </p:spPr>
      </p:pic>
      <p:sp>
        <p:nvSpPr>
          <p:cNvPr id="85" name="TextBox 84"/>
          <p:cNvSpPr txBox="1"/>
          <p:nvPr/>
        </p:nvSpPr>
        <p:spPr>
          <a:xfrm>
            <a:off x="1050000" y="1620000"/>
            <a:ext cx="7694000" cy="620000"/>
          </a:xfrm>
          <a:prstGeom prst="rect">
            <a:avLst/>
          </a:prstGeom>
          <a:noFill/>
        </p:spPr>
        <p:txBody>
          <a:bodyPr wrap="square" lIns="0" tIns="0" rIns="0" bIns="0" anchor="t">
            <a:spAutoFit/>
          </a:bodyPr>
          <a:lstStyle/>
          <a:p>
            <a:pPr>
              <a:spcAft>
                <a:spcPts val="200"/>
              </a:spcAft>
            </a:pPr>
            <a:r>
              <a:rPr sz="1500" b="1">
                <a:solidFill>
                  <a:srgbClr val="000000"/>
                </a:solidFill>
                <a:latin typeface="Arial"/>
              </a:rPr>
              <a:t>Data Acquisition &amp; Communication Module</a:t>
            </a:r>
          </a:p>
          <a:p>
            <a:pPr>
              <a:lnSpc>
                <a:spcPct val="105000"/>
              </a:lnSpc>
            </a:pPr>
            <a:r>
              <a:rPr sz="1250">
                <a:solidFill>
                  <a:srgbClr val="555555"/>
                </a:solidFill>
                <a:latin typeface="Arial"/>
              </a:rPr>
              <a:t>ESP32 microcontroller reads sensors and transmits data via Wi-Fi/MQTT</a:t>
            </a:r>
          </a:p>
        </p:txBody>
      </p:sp>
      <p:pic>
        <p:nvPicPr>
          <p:cNvPr id="86" name="Picture 85" descr="icon_cloud.png"/>
          <p:cNvPicPr>
            <a:picLocks noChangeAspect="1"/>
          </p:cNvPicPr>
          <p:nvPr/>
        </p:nvPicPr>
        <p:blipFill>
          <a:blip r:embed="rId5"/>
          <a:stretch>
            <a:fillRect/>
          </a:stretch>
        </p:blipFill>
        <p:spPr>
          <a:xfrm>
            <a:off x="400000" y="2280000"/>
            <a:ext cx="430000" cy="430000"/>
          </a:xfrm>
          <a:prstGeom prst="rect">
            <a:avLst/>
          </a:prstGeom>
        </p:spPr>
      </p:pic>
      <p:sp>
        <p:nvSpPr>
          <p:cNvPr id="87" name="TextBox 86"/>
          <p:cNvSpPr txBox="1"/>
          <p:nvPr/>
        </p:nvSpPr>
        <p:spPr>
          <a:xfrm>
            <a:off x="1050000" y="2240000"/>
            <a:ext cx="7694000" cy="620000"/>
          </a:xfrm>
          <a:prstGeom prst="rect">
            <a:avLst/>
          </a:prstGeom>
          <a:noFill/>
        </p:spPr>
        <p:txBody>
          <a:bodyPr wrap="square" lIns="0" tIns="0" rIns="0" bIns="0" anchor="t">
            <a:spAutoFit/>
          </a:bodyPr>
          <a:lstStyle/>
          <a:p>
            <a:pPr>
              <a:spcAft>
                <a:spcPts val="200"/>
              </a:spcAft>
            </a:pPr>
            <a:r>
              <a:rPr sz="1500" b="1">
                <a:solidFill>
                  <a:srgbClr val="000000"/>
                </a:solidFill>
                <a:latin typeface="Arial"/>
              </a:rPr>
              <a:t>Cloud &amp; Database Module</a:t>
            </a:r>
          </a:p>
          <a:p>
            <a:pPr>
              <a:lnSpc>
                <a:spcPct val="105000"/>
              </a:lnSpc>
            </a:pPr>
            <a:r>
              <a:rPr sz="1250">
                <a:solidFill>
                  <a:srgbClr val="555555"/>
                </a:solidFill>
                <a:latin typeface="Arial"/>
              </a:rPr>
              <a:t>Stores historical sensor readings, predictions, and patient records for trend analysis</a:t>
            </a:r>
          </a:p>
        </p:txBody>
      </p:sp>
      <p:pic>
        <p:nvPicPr>
          <p:cNvPr id="88" name="Picture 87" descr="icon_ml.png"/>
          <p:cNvPicPr>
            <a:picLocks noChangeAspect="1"/>
          </p:cNvPicPr>
          <p:nvPr/>
        </p:nvPicPr>
        <p:blipFill>
          <a:blip r:embed="rId6"/>
          <a:stretch>
            <a:fillRect/>
          </a:stretch>
        </p:blipFill>
        <p:spPr>
          <a:xfrm>
            <a:off x="400000" y="2900000"/>
            <a:ext cx="430000" cy="430000"/>
          </a:xfrm>
          <a:prstGeom prst="rect">
            <a:avLst/>
          </a:prstGeom>
        </p:spPr>
      </p:pic>
      <p:sp>
        <p:nvSpPr>
          <p:cNvPr id="89" name="TextBox 88"/>
          <p:cNvSpPr txBox="1"/>
          <p:nvPr/>
        </p:nvSpPr>
        <p:spPr>
          <a:xfrm>
            <a:off x="1050000" y="2860000"/>
            <a:ext cx="7694000" cy="620000"/>
          </a:xfrm>
          <a:prstGeom prst="rect">
            <a:avLst/>
          </a:prstGeom>
          <a:noFill/>
        </p:spPr>
        <p:txBody>
          <a:bodyPr wrap="square" lIns="0" tIns="0" rIns="0" bIns="0" anchor="t">
            <a:spAutoFit/>
          </a:bodyPr>
          <a:lstStyle/>
          <a:p>
            <a:pPr>
              <a:spcAft>
                <a:spcPts val="200"/>
              </a:spcAft>
            </a:pPr>
            <a:r>
              <a:rPr sz="1500" b="1">
                <a:solidFill>
                  <a:srgbClr val="000000"/>
                </a:solidFill>
                <a:latin typeface="Arial"/>
              </a:rPr>
              <a:t>Machine Learning Module</a:t>
            </a:r>
          </a:p>
          <a:p>
            <a:pPr>
              <a:lnSpc>
                <a:spcPct val="105000"/>
              </a:lnSpc>
            </a:pPr>
            <a:r>
              <a:rPr sz="1250">
                <a:solidFill>
                  <a:srgbClr val="555555"/>
                </a:solidFill>
                <a:latin typeface="Arial"/>
              </a:rPr>
              <a:t>Trained classifier (Random Forest / SVM / XGBoost) predicts ulcer risk level</a:t>
            </a:r>
          </a:p>
        </p:txBody>
      </p:sp>
      <p:pic>
        <p:nvPicPr>
          <p:cNvPr id="90" name="Picture 89" descr="icon_xai.png"/>
          <p:cNvPicPr>
            <a:picLocks noChangeAspect="1"/>
          </p:cNvPicPr>
          <p:nvPr/>
        </p:nvPicPr>
        <p:blipFill>
          <a:blip r:embed="rId7"/>
          <a:stretch>
            <a:fillRect/>
          </a:stretch>
        </p:blipFill>
        <p:spPr>
          <a:xfrm>
            <a:off x="400000" y="3520000"/>
            <a:ext cx="430000" cy="430000"/>
          </a:xfrm>
          <a:prstGeom prst="rect">
            <a:avLst/>
          </a:prstGeom>
        </p:spPr>
      </p:pic>
      <p:sp>
        <p:nvSpPr>
          <p:cNvPr id="91" name="TextBox 90"/>
          <p:cNvSpPr txBox="1"/>
          <p:nvPr/>
        </p:nvSpPr>
        <p:spPr>
          <a:xfrm>
            <a:off x="1050000" y="3480000"/>
            <a:ext cx="7694000" cy="620000"/>
          </a:xfrm>
          <a:prstGeom prst="rect">
            <a:avLst/>
          </a:prstGeom>
          <a:noFill/>
        </p:spPr>
        <p:txBody>
          <a:bodyPr wrap="square" lIns="0" tIns="0" rIns="0" bIns="0" anchor="t">
            <a:spAutoFit/>
          </a:bodyPr>
          <a:lstStyle/>
          <a:p>
            <a:pPr>
              <a:spcAft>
                <a:spcPts val="200"/>
              </a:spcAft>
            </a:pPr>
            <a:r>
              <a:rPr sz="1500" b="1">
                <a:solidFill>
                  <a:srgbClr val="000000"/>
                </a:solidFill>
                <a:latin typeface="Arial"/>
              </a:rPr>
              <a:t>Explainable AI Module</a:t>
            </a:r>
          </a:p>
          <a:p>
            <a:pPr>
              <a:lnSpc>
                <a:spcPct val="105000"/>
              </a:lnSpc>
            </a:pPr>
            <a:r>
              <a:rPr sz="1250">
                <a:solidFill>
                  <a:srgbClr val="555555"/>
                </a:solidFill>
                <a:latin typeface="Arial"/>
              </a:rPr>
              <a:t>SHAP/LIME generate feature-level explanations for every prediction</a:t>
            </a:r>
          </a:p>
        </p:txBody>
      </p:sp>
      <p:pic>
        <p:nvPicPr>
          <p:cNvPr id="92" name="Picture 91" descr="icon_dashboard.png"/>
          <p:cNvPicPr>
            <a:picLocks noChangeAspect="1"/>
          </p:cNvPicPr>
          <p:nvPr/>
        </p:nvPicPr>
        <p:blipFill>
          <a:blip r:embed="rId8"/>
          <a:stretch>
            <a:fillRect/>
          </a:stretch>
        </p:blipFill>
        <p:spPr>
          <a:xfrm>
            <a:off x="400000" y="4140000"/>
            <a:ext cx="430000" cy="430000"/>
          </a:xfrm>
          <a:prstGeom prst="rect">
            <a:avLst/>
          </a:prstGeom>
        </p:spPr>
      </p:pic>
      <p:sp>
        <p:nvSpPr>
          <p:cNvPr id="93" name="TextBox 92"/>
          <p:cNvSpPr txBox="1"/>
          <p:nvPr/>
        </p:nvSpPr>
        <p:spPr>
          <a:xfrm>
            <a:off x="1050000" y="4100000"/>
            <a:ext cx="7694000" cy="620000"/>
          </a:xfrm>
          <a:prstGeom prst="rect">
            <a:avLst/>
          </a:prstGeom>
          <a:noFill/>
        </p:spPr>
        <p:txBody>
          <a:bodyPr wrap="square" lIns="0" tIns="0" rIns="0" bIns="0" anchor="t">
            <a:spAutoFit/>
          </a:bodyPr>
          <a:lstStyle/>
          <a:p>
            <a:pPr>
              <a:spcAft>
                <a:spcPts val="200"/>
              </a:spcAft>
            </a:pPr>
            <a:r>
              <a:rPr sz="1500" b="1">
                <a:solidFill>
                  <a:srgbClr val="000000"/>
                </a:solidFill>
                <a:latin typeface="Arial"/>
              </a:rPr>
              <a:t>Dashboard &amp; Alert Module</a:t>
            </a:r>
          </a:p>
          <a:p>
            <a:pPr>
              <a:lnSpc>
                <a:spcPct val="105000"/>
              </a:lnSpc>
            </a:pPr>
            <a:r>
              <a:rPr sz="1250">
                <a:solidFill>
                  <a:srgbClr val="555555"/>
                </a:solidFill>
                <a:latin typeface="Arial"/>
              </a:rPr>
              <a:t>Role-based web dashboard for patients and doctors, with real-time risk alerts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0"/>
          <p:cNvSpPr txBox="1"/>
          <p:nvPr/>
        </p:nvSpPr>
        <p:spPr>
          <a:xfrm>
            <a:off x="2076625" y="0"/>
            <a:ext cx="63621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600">
                <a:solidFill>
                  <a:schemeClr val="dk1"/>
                </a:solidFill>
              </a:rPr>
              <a:t>SCREEN SHOTS</a:t>
            </a:r>
            <a:endParaRPr sz="100"/>
          </a:p>
        </p:txBody>
      </p:sp>
      <p:pic>
        <p:nvPicPr>
          <p:cNvPr id="3" name="Picture 2">
            <a:extLst>
              <a:ext uri="{FF2B5EF4-FFF2-40B4-BE49-F238E27FC236}">
                <a16:creationId xmlns:a16="http://schemas.microsoft.com/office/drawing/2014/main" id="{DB459E1A-BD7B-77AF-ABD9-CE0694AD2FAD}"/>
              </a:ext>
            </a:extLst>
          </p:cNvPr>
          <p:cNvPicPr>
            <a:picLocks noChangeAspect="1"/>
          </p:cNvPicPr>
          <p:nvPr/>
        </p:nvPicPr>
        <p:blipFill>
          <a:blip r:embed="rId3"/>
          <a:srcRect l="17013" t="22820" r="18637" b="7778"/>
          <a:stretch>
            <a:fillRect/>
          </a:stretch>
        </p:blipFill>
        <p:spPr>
          <a:xfrm>
            <a:off x="439614" y="1110029"/>
            <a:ext cx="3567896" cy="2923442"/>
          </a:xfrm>
          <a:prstGeom prst="rect">
            <a:avLst/>
          </a:prstGeom>
        </p:spPr>
      </p:pic>
      <p:pic>
        <p:nvPicPr>
          <p:cNvPr id="5" name="Picture 4">
            <a:extLst>
              <a:ext uri="{FF2B5EF4-FFF2-40B4-BE49-F238E27FC236}">
                <a16:creationId xmlns:a16="http://schemas.microsoft.com/office/drawing/2014/main" id="{2B8E57D2-D47B-04AD-DEE3-D0C0410B5C96}"/>
              </a:ext>
            </a:extLst>
          </p:cNvPr>
          <p:cNvPicPr>
            <a:picLocks noChangeAspect="1"/>
          </p:cNvPicPr>
          <p:nvPr/>
        </p:nvPicPr>
        <p:blipFill>
          <a:blip r:embed="rId4"/>
          <a:stretch>
            <a:fillRect/>
          </a:stretch>
        </p:blipFill>
        <p:spPr>
          <a:xfrm>
            <a:off x="4374174" y="1301262"/>
            <a:ext cx="3805310" cy="237831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1"/>
          <p:cNvSpPr txBox="1"/>
          <p:nvPr/>
        </p:nvSpPr>
        <p:spPr>
          <a:xfrm>
            <a:off x="2076625" y="0"/>
            <a:ext cx="63621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600">
                <a:solidFill>
                  <a:schemeClr val="dk1"/>
                </a:solidFill>
              </a:rPr>
              <a:t>REFERENCE </a:t>
            </a:r>
            <a:endParaRPr sz="100"/>
          </a:p>
        </p:txBody>
      </p:sp>
      <p:sp>
        <p:nvSpPr>
          <p:cNvPr id="97" name="TextBox 96"/>
          <p:cNvSpPr txBox="1"/>
          <p:nvPr/>
        </p:nvSpPr>
        <p:spPr>
          <a:xfrm>
            <a:off x="400000" y="850000"/>
            <a:ext cx="8344000" cy="4250000"/>
          </a:xfrm>
          <a:prstGeom prst="rect">
            <a:avLst/>
          </a:prstGeom>
          <a:noFill/>
        </p:spPr>
        <p:txBody>
          <a:bodyPr wrap="square" lIns="0" tIns="0" rIns="0" bIns="0" anchor="t">
            <a:spAutoFit/>
          </a:bodyPr>
          <a:lstStyle/>
          <a:p>
            <a:pPr marL="0" indent="0" algn="l">
              <a:spcAft>
                <a:spcPts val="300"/>
              </a:spcAft>
              <a:buNone/>
            </a:pPr>
            <a:r>
              <a:rPr sz="850" b="0">
                <a:solidFill>
                  <a:srgbClr val="000000"/>
                </a:solidFill>
                <a:latin typeface="Arial"/>
              </a:rPr>
              <a:t>[1] D. Wang, J. Ouyang, P. Zhou, J. Yan, L. Shu, and X. Xu, "A Novel Low-Cost Wireless Footwear System for Monitoring Diabetic Foot Patients," IEEE Trans. Biomedical Circuits and Systems, doi: 10.1109/TBCAS.2020.3043538.</a:t>
            </a:r>
          </a:p>
          <a:p>
            <a:pPr marL="0" indent="0" algn="l">
              <a:spcAft>
                <a:spcPts val="300"/>
              </a:spcAft>
              <a:buNone/>
            </a:pPr>
            <a:r>
              <a:rPr sz="850" b="0">
                <a:solidFill>
                  <a:srgbClr val="000000"/>
                </a:solidFill>
                <a:latin typeface="Arial"/>
              </a:rPr>
              <a:t>[2] M. M. Manohara Pai, S. V. Kolekar, and R. M. Pai, "Development of Smart Sole based Foot Ulcer Prediction System," ICCT, 2019.</a:t>
            </a:r>
          </a:p>
          <a:p>
            <a:pPr marL="0" indent="0" algn="l">
              <a:spcAft>
                <a:spcPts val="300"/>
              </a:spcAft>
              <a:buNone/>
            </a:pPr>
            <a:r>
              <a:rPr sz="850" b="0">
                <a:solidFill>
                  <a:srgbClr val="000000"/>
                </a:solidFill>
                <a:latin typeface="Arial"/>
              </a:rPr>
              <a:t>[3] A. M. Shayan et al., "ShrewdShoe, a Smart Pressure Sensitive Wearable Platform," ICRoM, 2018.</a:t>
            </a:r>
          </a:p>
          <a:p>
            <a:pPr marL="0" indent="0" algn="l">
              <a:spcAft>
                <a:spcPts val="300"/>
              </a:spcAft>
              <a:buNone/>
            </a:pPr>
            <a:r>
              <a:rPr sz="850" b="0">
                <a:solidFill>
                  <a:srgbClr val="000000"/>
                </a:solidFill>
                <a:latin typeface="Arial"/>
              </a:rPr>
              <a:t>[4] D. S. et al., "AI Driven Smart Orthopaedic Insoles For Continuous Diabetic Foot Health Monitoring," AIMLA, 2026, doi: 10.1109/AIMLA67915.2026.11522290.</a:t>
            </a:r>
          </a:p>
          <a:p>
            <a:pPr marL="0" indent="0" algn="l">
              <a:spcAft>
                <a:spcPts val="300"/>
              </a:spcAft>
              <a:buNone/>
            </a:pPr>
            <a:r>
              <a:rPr sz="850" b="0">
                <a:solidFill>
                  <a:srgbClr val="000000"/>
                </a:solidFill>
                <a:latin typeface="Arial"/>
              </a:rPr>
              <a:t>[5] K. Malarvizhi et al., "Design of a Smart Slipper for Diabetic Foot Pressure and Temperature Monitoring," AIMLA, 2026, doi: 10.1109/AIMLA67915.2026.11522336.</a:t>
            </a:r>
          </a:p>
          <a:p>
            <a:pPr marL="0" indent="0" algn="l">
              <a:spcAft>
                <a:spcPts val="300"/>
              </a:spcAft>
              <a:buNone/>
            </a:pPr>
            <a:r>
              <a:rPr sz="850" b="0">
                <a:solidFill>
                  <a:srgbClr val="000000"/>
                </a:solidFill>
                <a:latin typeface="Arial"/>
              </a:rPr>
              <a:t>[6] S. Shanmugapriya et al., "IoT-Enabled Smart Insole for Preventive Diabetic Care," ICIMA, 2026, doi: 10.1109/ICIMA68728.2026.11564303.</a:t>
            </a:r>
          </a:p>
          <a:p>
            <a:pPr marL="0" indent="0" algn="l">
              <a:spcAft>
                <a:spcPts val="300"/>
              </a:spcAft>
              <a:buNone/>
            </a:pPr>
            <a:r>
              <a:rPr sz="850" b="0">
                <a:solidFill>
                  <a:srgbClr val="000000"/>
                </a:solidFill>
                <a:latin typeface="Arial"/>
              </a:rPr>
              <a:t>[7] P. Velvizhy et al., "An Explainable AI Framework for Diabetic Foot Ulcer Detection and Personalized Footwear Recommendation," RMKMATE, 2025, doi: 10.1109/RMKMATE64874.2025.11042366.</a:t>
            </a:r>
          </a:p>
          <a:p>
            <a:pPr marL="0" indent="0" algn="l">
              <a:spcAft>
                <a:spcPts val="300"/>
              </a:spcAft>
              <a:buNone/>
            </a:pPr>
            <a:r>
              <a:rPr sz="850" b="0">
                <a:solidFill>
                  <a:srgbClr val="000000"/>
                </a:solidFill>
                <a:latin typeface="Arial"/>
              </a:rPr>
              <a:t>[8] X. Chen et al., "DiaShoe: A Smart Shoe for Diabetic Health Monitoring with Gait and Nanoclimate Sensing," IEEE ICCE, 2026, doi: 10.1109/ICCE67443.2026.11449711.</a:t>
            </a:r>
          </a:p>
          <a:p>
            <a:pPr marL="0" indent="0" algn="l">
              <a:spcAft>
                <a:spcPts val="300"/>
              </a:spcAft>
              <a:buNone/>
            </a:pPr>
            <a:r>
              <a:rPr sz="850" b="0">
                <a:solidFill>
                  <a:srgbClr val="000000"/>
                </a:solidFill>
                <a:latin typeface="Arial"/>
              </a:rPr>
              <a:t>[9] A. Abdigaliyeva et al., "Explainable Machine Learning for Medical Diagnosis: A Comparative Study of SHAP, LIME and Grad-CAM Methods," SIST, 2026, doi: 10.1109/SIST61674.2026.11596151.</a:t>
            </a:r>
          </a:p>
          <a:p>
            <a:pPr marL="0" indent="0" algn="l">
              <a:spcAft>
                <a:spcPts val="300"/>
              </a:spcAft>
              <a:buNone/>
            </a:pPr>
            <a:r>
              <a:rPr sz="850" b="0">
                <a:solidFill>
                  <a:srgbClr val="000000"/>
                </a:solidFill>
                <a:latin typeface="Arial"/>
              </a:rPr>
              <a:t>[10] S. Ishwarya and S. Anitha Pillai, "Explainable Artificial Intelligence in Healthcare - A Review," ICICT, 2024, doi: 10.1109/ICICT60155.2024.10544745.</a:t>
            </a:r>
          </a:p>
          <a:p>
            <a:pPr marL="0" indent="0" algn="l">
              <a:spcAft>
                <a:spcPts val="300"/>
              </a:spcAft>
              <a:buNone/>
            </a:pPr>
            <a:r>
              <a:rPr sz="850" b="0">
                <a:solidFill>
                  <a:srgbClr val="000000"/>
                </a:solidFill>
                <a:latin typeface="Arial"/>
              </a:rPr>
              <a:t>[11] P. Gupta et al., "IoT and Cloud Based Healthcare Solution for Diabetic Foot Ulcer," PDGC, 2020, doi: 10.1109/PDGC50313.2020.9315824.</a:t>
            </a:r>
          </a:p>
          <a:p>
            <a:pPr marL="0" indent="0" algn="l">
              <a:spcAft>
                <a:spcPts val="300"/>
              </a:spcAft>
              <a:buNone/>
            </a:pPr>
            <a:r>
              <a:rPr sz="850" b="0">
                <a:solidFill>
                  <a:srgbClr val="000000"/>
                </a:solidFill>
                <a:latin typeface="Arial"/>
              </a:rPr>
              <a:t>[12] M. Wang and L. Timbol-Cuison, "Machine Learning Classification Techniques for Diabetic Foot Ulcers," AIAM, 2022, doi: 10.1109/AIAM57466.2022.00054.</a:t>
            </a:r>
          </a:p>
          <a:p>
            <a:pPr marL="0" indent="0" algn="l">
              <a:spcAft>
                <a:spcPts val="300"/>
              </a:spcAft>
              <a:buNone/>
            </a:pPr>
            <a:r>
              <a:rPr sz="850" b="0">
                <a:solidFill>
                  <a:srgbClr val="000000"/>
                </a:solidFill>
                <a:latin typeface="Arial"/>
              </a:rPr>
              <a:t>[13] R. Satheesh et al., "Severity of Diabetic Foot Ulcer Patients Prediction using a Hybrid and Machine Learning Techniques," IConSCEPT, 2025, doi: 10.1109/IConSCEPT66142.2025.11437373.</a:t>
            </a:r>
          </a:p>
          <a:p>
            <a:pPr marL="0" indent="0" algn="l">
              <a:spcAft>
                <a:spcPts val="300"/>
              </a:spcAft>
              <a:buNone/>
            </a:pPr>
            <a:r>
              <a:rPr sz="850" b="0">
                <a:solidFill>
                  <a:srgbClr val="000000"/>
                </a:solidFill>
                <a:latin typeface="Arial"/>
              </a:rPr>
              <a:t>[14] N. Rashid, T. Mortlock, and M. A. Al Faruque, "Stress Detection Using Context-Aware Sensor Fusion From Wearable Devices," IEEE JBHI, vol. 28, no. 3, pp. 14115-14127, 2024.</a:t>
            </a:r>
          </a:p>
          <a:p>
            <a:pPr marL="0" indent="0" algn="l">
              <a:spcAft>
                <a:spcPts val="300"/>
              </a:spcAft>
              <a:buNone/>
            </a:pPr>
            <a:r>
              <a:rPr sz="850" b="0">
                <a:solidFill>
                  <a:srgbClr val="000000"/>
                </a:solidFill>
                <a:latin typeface="Arial"/>
              </a:rPr>
              <a:t>[15] P. M. Kumar, L. U. Khan, and C. S. Hong, "Affirmative Fusion Process for Improving Wearable Sensor Data Availability in AIoMT," IEEE Sensors Journal, vol. 22, no. 8, pp. 8130-8138, 2022, doi: 10.1109/JSEN.2022.3153410.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2"/>
          <p:cNvSpPr txBox="1"/>
          <p:nvPr/>
        </p:nvSpPr>
        <p:spPr>
          <a:xfrm>
            <a:off x="2076625" y="0"/>
            <a:ext cx="63621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600">
                <a:solidFill>
                  <a:schemeClr val="dk1"/>
                </a:solidFill>
              </a:rPr>
              <a:t>PUBLICATION DETAILS </a:t>
            </a:r>
            <a:endParaRPr sz="100"/>
          </a:p>
        </p:txBody>
      </p:sp>
      <p:sp>
        <p:nvSpPr>
          <p:cNvPr id="102" name="TextBox 101"/>
          <p:cNvSpPr txBox="1"/>
          <p:nvPr/>
        </p:nvSpPr>
        <p:spPr>
          <a:xfrm>
            <a:off x="400000" y="1100000"/>
            <a:ext cx="8344000" cy="3900000"/>
          </a:xfrm>
          <a:prstGeom prst="rect">
            <a:avLst/>
          </a:prstGeom>
          <a:noFill/>
        </p:spPr>
        <p:txBody>
          <a:bodyPr wrap="square" lIns="0" tIns="0" rIns="0" bIns="0" anchor="t">
            <a:spAutoFit/>
          </a:bodyPr>
          <a:lstStyle/>
          <a:p>
            <a:pPr marL="228600" indent="-228600" algn="l">
              <a:spcAft>
                <a:spcPts val="1000"/>
              </a:spcAft>
              <a:buChar char="•"/>
            </a:pPr>
            <a:r>
              <a:rPr sz="1500" b="0">
                <a:solidFill>
                  <a:srgbClr val="000000"/>
                </a:solidFill>
                <a:latin typeface="Arial"/>
              </a:rPr>
              <a:t>Target output: Conference paper / journal paper based on this project's literature survey and implementation results.</a:t>
            </a:r>
          </a:p>
          <a:p>
            <a:pPr marL="228600" indent="-228600" algn="l">
              <a:spcAft>
                <a:spcPts val="1000"/>
              </a:spcAft>
              <a:buChar char="•"/>
            </a:pPr>
            <a:r>
              <a:rPr sz="1500" b="0">
                <a:solidFill>
                  <a:srgbClr val="000000"/>
                </a:solidFill>
                <a:latin typeface="Arial"/>
              </a:rPr>
              <a:t>Suggested target venues (based on similar recent work in this survey): IEEE conferences on AI &amp; Machine Learning Applications (AIMLA), Inventive Material Science and Applications (ICIMA), or Knowledge Management &amp; AI Telecommunication Engineering (RMKMATE).</a:t>
            </a:r>
          </a:p>
          <a:p>
            <a:pPr marL="228600" indent="-228600" algn="l">
              <a:spcAft>
                <a:spcPts val="1000"/>
              </a:spcAft>
              <a:buChar char="•"/>
            </a:pPr>
            <a:r>
              <a:rPr sz="1500" b="0">
                <a:solidFill>
                  <a:srgbClr val="000000"/>
                </a:solidFill>
                <a:latin typeface="Arial"/>
              </a:rPr>
              <a:t>Paper title (proposed): "Activity-Aware Smart Insole for Early Diabetic Foot Ulcer Risk Prediction using Machine Learning and Explainable AI."</a:t>
            </a:r>
          </a:p>
          <a:p>
            <a:pPr marL="228600" indent="-228600" algn="l">
              <a:spcAft>
                <a:spcPts val="1000"/>
              </a:spcAft>
              <a:buChar char="•"/>
            </a:pPr>
            <a:r>
              <a:rPr sz="1500" b="0">
                <a:solidFill>
                  <a:srgbClr val="000000"/>
                </a:solidFill>
                <a:latin typeface="Arial"/>
              </a:rPr>
              <a:t>Status: Literature survey complete; hardware procurement complete; sensor-level testing in progress.</a:t>
            </a:r>
          </a:p>
          <a:p>
            <a:pPr marL="228600" indent="-228600" algn="l">
              <a:spcAft>
                <a:spcPts val="1000"/>
              </a:spcAft>
              <a:buChar char="•"/>
            </a:pPr>
            <a:r>
              <a:rPr sz="1500" b="0">
                <a:solidFill>
                  <a:srgbClr val="000000"/>
                </a:solidFill>
                <a:latin typeface="Arial"/>
              </a:rPr>
              <a:t>[Add final target journal/conference name, submission deadline, and paper status once confirmed with guide]</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1600</Words>
  <Application>Microsoft Office PowerPoint</Application>
  <PresentationFormat>On-screen Show (16:9)</PresentationFormat>
  <Paragraphs>132</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Times New Roman</vt:lpstr>
      <vt:lpstr>Simple Light</vt:lpstr>
      <vt:lpstr>Activity-Aware Smart Insole for Early Diabetic Foot Ulcer Risk Prediction using Machine Learning and Explainable AI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HAI</dc:creator>
  <cp:lastModifiedBy>Vedesh N</cp:lastModifiedBy>
  <cp:revision>4</cp:revision>
  <dcterms:modified xsi:type="dcterms:W3CDTF">2026-08-11T03:00:28Z</dcterms:modified>
</cp:coreProperties>
</file>